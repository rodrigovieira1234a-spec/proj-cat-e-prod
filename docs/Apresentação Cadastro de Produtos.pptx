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Arimo" panose="020B0604020202020204" charset="0"/>
      <p:regular r:id="rId23"/>
    </p:embeddedFont>
    <p:embeddedFont>
      <p:font typeface="Arimo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87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42912" y="3190875"/>
            <a:ext cx="17402175" cy="2781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Sistema de </a:t>
            </a:r>
            <a:r>
              <a:rPr lang="en-US" sz="90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Cadastro</a:t>
            </a:r>
            <a:r>
              <a:rPr lang="en-US" sz="90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de </a:t>
            </a:r>
            <a:r>
              <a:rPr lang="en-US" sz="90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Produtos</a:t>
            </a:r>
            <a:endParaRPr lang="en-US" sz="9000" b="1" dirty="0">
              <a:solidFill>
                <a:srgbClr val="F8FAFC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857250" y="60864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lang="en-US" sz="270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Documentação do Projeto (Java / Spring Boot / MySQL)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16099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176631" y="3030762"/>
            <a:ext cx="7934738" cy="773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 dirty="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Gabriel Carlos Rezende Nazario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879306" y="4088037"/>
            <a:ext cx="6529388" cy="14288"/>
            <a:chOff x="0" y="0"/>
            <a:chExt cx="8705850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879306" y="4230912"/>
            <a:ext cx="6529388" cy="928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Rodrigo Vieira Fagundes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5879306" y="5288187"/>
            <a:ext cx="6529388" cy="14288"/>
            <a:chOff x="0" y="0"/>
            <a:chExt cx="8705850" cy="190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5879306" y="5431062"/>
            <a:ext cx="6529388" cy="928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João Marcos Da Silva Braz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879306" y="6488337"/>
            <a:ext cx="6529388" cy="14288"/>
            <a:chOff x="0" y="0"/>
            <a:chExt cx="870585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879306" y="6631212"/>
            <a:ext cx="6529388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Luana Alexandre da Silva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79306" y="7750399"/>
            <a:ext cx="6529388" cy="730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3600" dirty="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José </a:t>
            </a:r>
            <a:r>
              <a:rPr lang="en-US" sz="3600" dirty="0" err="1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Eliomax</a:t>
            </a:r>
            <a:r>
              <a:rPr lang="en-US" sz="3600" dirty="0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 Pereira Mariano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879306" y="4088037"/>
            <a:ext cx="6529388" cy="14288"/>
            <a:chOff x="0" y="0"/>
            <a:chExt cx="8705850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879306" y="5288187"/>
            <a:ext cx="6529388" cy="14288"/>
            <a:chOff x="0" y="0"/>
            <a:chExt cx="8705850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879306" y="6488337"/>
            <a:ext cx="6529388" cy="14288"/>
            <a:chOff x="0" y="0"/>
            <a:chExt cx="8705850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879306" y="7678962"/>
            <a:ext cx="6529388" cy="14288"/>
            <a:chOff x="0" y="0"/>
            <a:chExt cx="8705850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05850" cy="19050"/>
            </a:xfrm>
            <a:custGeom>
              <a:avLst/>
              <a:gdLst/>
              <a:ahLst/>
              <a:cxnLst/>
              <a:rect l="l" t="t" r="r" b="b"/>
              <a:pathLst>
                <a:path w="8705850" h="19050">
                  <a:moveTo>
                    <a:pt x="0" y="0"/>
                  </a:moveTo>
                  <a:lnTo>
                    <a:pt x="8705850" y="0"/>
                  </a:lnTo>
                  <a:lnTo>
                    <a:pt x="870585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A </a:t>
            </a:r>
            <a:r>
              <a:rPr lang="en-US" sz="54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Equipe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2756781"/>
            <a:ext cx="8326039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CBD5E1"/>
                </a:solidFill>
                <a:latin typeface="Arimo Bold"/>
                <a:ea typeface="Arimo Bold"/>
                <a:cs typeface="Arimo Bold"/>
                <a:sym typeface="Arimo Bold"/>
              </a:rPr>
              <a:t>Descrição Geral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501188" y="2756781"/>
            <a:ext cx="832604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CBD5E1"/>
                </a:solidFill>
                <a:latin typeface="Arimo Bold"/>
                <a:ea typeface="Arimo Bold"/>
                <a:cs typeface="Arimo Bold"/>
                <a:sym typeface="Arimo Bold"/>
              </a:rPr>
              <a:t>Arquitetura em Camadas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857250" y="3547356"/>
            <a:ext cx="428625" cy="342900"/>
            <a:chOff x="0" y="0"/>
            <a:chExt cx="571500" cy="45720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571625" y="3333043"/>
            <a:ext cx="721518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Aplicação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Java/Spring Boot para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gerenciar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produtos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categorias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usuários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7250" y="4761794"/>
            <a:ext cx="428625" cy="342900"/>
            <a:chOff x="0" y="0"/>
            <a:chExt cx="571500" cy="457200"/>
          </a:xfrm>
        </p:grpSpPr>
        <p:sp>
          <p:nvSpPr>
            <p:cNvPr id="10" name="Freeform 10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71624" y="4547481"/>
            <a:ext cx="6686548" cy="662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Objetivo: CRUD completo com regras de negócio.</a:t>
            </a:r>
          </a:p>
        </p:txBody>
      </p: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7250" y="5547606"/>
            <a:ext cx="428625" cy="342900"/>
            <a:chOff x="0" y="0"/>
            <a:chExt cx="571500" cy="457200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71625" y="5333293"/>
            <a:ext cx="721518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Foco na separação de entidades, camadas e responsabilidades.</a:t>
            </a:r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9501188" y="3547356"/>
            <a:ext cx="428625" cy="342900"/>
            <a:chOff x="0" y="0"/>
            <a:chExt cx="571500" cy="457200"/>
          </a:xfrm>
        </p:grpSpPr>
        <p:sp>
          <p:nvSpPr>
            <p:cNvPr id="16" name="Freeform 16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15562" y="3333043"/>
            <a:ext cx="7005638" cy="4600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controller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Trata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as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requisições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HTTP (API REST).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9501188" y="4333168"/>
            <a:ext cx="428625" cy="342900"/>
            <a:chOff x="0" y="0"/>
            <a:chExt cx="571500" cy="457200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15562" y="4118856"/>
            <a:ext cx="630078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service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Contém as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regras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negócio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lógica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501188" y="5118981"/>
            <a:ext cx="428625" cy="342900"/>
            <a:chOff x="0" y="0"/>
            <a:chExt cx="571500" cy="457200"/>
          </a:xfrm>
        </p:grpSpPr>
        <p:sp>
          <p:nvSpPr>
            <p:cNvPr id="22" name="Freeform 22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215562" y="4904669"/>
            <a:ext cx="668655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repository</a:t>
            </a: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Comunicação com o banco de dados.</a:t>
            </a:r>
          </a:p>
        </p:txBody>
      </p: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9501188" y="5904794"/>
            <a:ext cx="428625" cy="342900"/>
            <a:chOff x="0" y="0"/>
            <a:chExt cx="571500" cy="457200"/>
          </a:xfrm>
        </p:grpSpPr>
        <p:sp>
          <p:nvSpPr>
            <p:cNvPr id="25" name="Freeform 25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215562" y="5690481"/>
            <a:ext cx="528637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entity</a:t>
            </a: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Classes de modelo (entidades).</a:t>
            </a:r>
          </a:p>
        </p:txBody>
      </p:sp>
      <p:grpSp>
        <p:nvGrpSpPr>
          <p:cNvPr id="27" name="Group 27"/>
          <p:cNvGrpSpPr>
            <a:grpSpLocks noChangeAspect="1"/>
          </p:cNvGrpSpPr>
          <p:nvPr/>
        </p:nvGrpSpPr>
        <p:grpSpPr>
          <a:xfrm>
            <a:off x="9501188" y="6690606"/>
            <a:ext cx="428625" cy="342900"/>
            <a:chOff x="0" y="0"/>
            <a:chExt cx="571500" cy="457200"/>
          </a:xfrm>
        </p:grpSpPr>
        <p:sp>
          <p:nvSpPr>
            <p:cNvPr id="28" name="Freeform 28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0215562" y="6476293"/>
            <a:ext cx="650081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exception</a:t>
            </a: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Tratamento de erros personalizados.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Visão Geral e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Arquitetura</a:t>
            </a:r>
          </a:p>
        </p:txBody>
      </p:sp>
      <p:grpSp>
        <p:nvGrpSpPr>
          <p:cNvPr id="31" name="Group 31"/>
          <p:cNvGrpSpPr>
            <a:grpSpLocks noChangeAspect="1"/>
          </p:cNvGrpSpPr>
          <p:nvPr/>
        </p:nvGrpSpPr>
        <p:grpSpPr>
          <a:xfrm>
            <a:off x="9490300" y="7413828"/>
            <a:ext cx="428625" cy="342900"/>
            <a:chOff x="0" y="0"/>
            <a:chExt cx="571500" cy="457200"/>
          </a:xfrm>
        </p:grpSpPr>
        <p:sp>
          <p:nvSpPr>
            <p:cNvPr id="32" name="Freeform 32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0204676" y="7199516"/>
            <a:ext cx="6300788" cy="662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configs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→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Configuração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segurança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830497" y="3244052"/>
            <a:ext cx="640619" cy="512495"/>
            <a:chOff x="0" y="0"/>
            <a:chExt cx="571500" cy="4572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898196" y="2927732"/>
            <a:ext cx="6811918" cy="850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3"/>
              </a:lnSpc>
            </a:pPr>
            <a:r>
              <a:rPr lang="en-US" sz="3362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Java (21)</a:t>
            </a:r>
            <a:r>
              <a:rPr lang="en-US" sz="336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(Linguagem de Backend)</a:t>
            </a: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4830497" y="4418520"/>
            <a:ext cx="640619" cy="512495"/>
            <a:chOff x="0" y="0"/>
            <a:chExt cx="571500" cy="457200"/>
          </a:xfrm>
        </p:grpSpPr>
        <p:sp>
          <p:nvSpPr>
            <p:cNvPr id="8" name="Freeform 8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98196" y="4102200"/>
            <a:ext cx="5523015" cy="72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3"/>
              </a:lnSpc>
            </a:pPr>
            <a:r>
              <a:rPr lang="en-US" sz="3362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Boot</a:t>
            </a:r>
            <a:r>
              <a:rPr lang="en-US" sz="336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(Framework)</a:t>
            </a:r>
          </a:p>
        </p:txBody>
      </p: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4830497" y="5592989"/>
            <a:ext cx="640619" cy="512495"/>
            <a:chOff x="0" y="0"/>
            <a:chExt cx="571500" cy="4572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898196" y="5276669"/>
            <a:ext cx="6526652" cy="72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3"/>
              </a:lnSpc>
            </a:pPr>
            <a:r>
              <a:rPr lang="en-US" sz="3362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Data JPA</a:t>
            </a:r>
            <a:r>
              <a:rPr lang="en-US" sz="336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(Persistência)</a:t>
            </a:r>
          </a:p>
        </p:txBody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4830497" y="6767457"/>
            <a:ext cx="640619" cy="512495"/>
            <a:chOff x="0" y="0"/>
            <a:chExt cx="571500" cy="457200"/>
          </a:xfrm>
        </p:grpSpPr>
        <p:sp>
          <p:nvSpPr>
            <p:cNvPr id="14" name="Freeform 14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785768" y="6451137"/>
            <a:ext cx="7784163" cy="722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3"/>
              </a:lnSpc>
            </a:pPr>
            <a:r>
              <a:rPr lang="en-US" sz="3362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MySQL</a:t>
            </a:r>
            <a:r>
              <a:rPr lang="en-US" sz="336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(Banco de Dados de Produção)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4830497" y="7941926"/>
            <a:ext cx="640619" cy="512495"/>
            <a:chOff x="0" y="0"/>
            <a:chExt cx="571500" cy="457200"/>
          </a:xfrm>
        </p:grpSpPr>
        <p:sp>
          <p:nvSpPr>
            <p:cNvPr id="17" name="Freeform 17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898196" y="7625606"/>
            <a:ext cx="6192653" cy="850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53"/>
              </a:lnSpc>
            </a:pPr>
            <a:r>
              <a:rPr lang="en-US" sz="3362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H2 Database</a:t>
            </a:r>
            <a:r>
              <a:rPr lang="en-US" sz="3362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(Banco de Testes)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Tecnologias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Principais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149953" y="2535334"/>
            <a:ext cx="5988094" cy="6722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21"/>
              </a:lnSpc>
            </a:pPr>
            <a:endParaRPr dirty="0"/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Data JPA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Boot Web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H2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MySQL Connector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DevTools</a:t>
            </a:r>
            <a:endParaRPr lang="en-US" sz="2956" b="1" dirty="0">
              <a:solidFill>
                <a:srgbClr val="F8FAFC"/>
              </a:solidFill>
              <a:latin typeface="Arimo Bold"/>
              <a:ea typeface="Arimo Bold"/>
              <a:cs typeface="Arimo Bold"/>
              <a:sym typeface="Arimo Bold"/>
            </a:endParaRP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Lombok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Security</a:t>
            </a:r>
          </a:p>
          <a:p>
            <a:pPr marL="638229" lvl="1" indent="-319115" algn="l">
              <a:lnSpc>
                <a:spcPts val="5321"/>
              </a:lnSpc>
              <a:buFont typeface="Arial"/>
              <a:buChar char="•"/>
            </a:pPr>
            <a:r>
              <a:rPr lang="en-US" sz="2956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Spring Boot Test</a:t>
            </a:r>
          </a:p>
          <a:p>
            <a:pPr algn="l">
              <a:lnSpc>
                <a:spcPts val="5321"/>
              </a:lnSpc>
            </a:pPr>
            <a:endParaRPr lang="en-US" sz="2956" b="1" dirty="0">
              <a:solidFill>
                <a:srgbClr val="F8FAFC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857250" y="1397718"/>
            <a:ext cx="17402175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Tecnologias</a:t>
            </a:r>
            <a:r>
              <a:rPr lang="en-US" sz="54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54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Dependências</a:t>
            </a:r>
            <a:endParaRPr lang="en-US" sz="5400" b="1" dirty="0">
              <a:solidFill>
                <a:srgbClr val="F8FAFC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857250" y="3520528"/>
            <a:ext cx="7929562" cy="5214938"/>
            <a:chOff x="0" y="0"/>
            <a:chExt cx="10572750" cy="695325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6953250"/>
            </a:xfrm>
            <a:custGeom>
              <a:avLst/>
              <a:gdLst/>
              <a:ahLst/>
              <a:cxnLst/>
              <a:rect l="l" t="t" r="r" b="b"/>
              <a:pathLst>
                <a:path w="10572750" h="6953250">
                  <a:moveTo>
                    <a:pt x="0" y="0"/>
                  </a:moveTo>
                  <a:lnTo>
                    <a:pt x="10572750" y="0"/>
                  </a:lnTo>
                  <a:lnTo>
                    <a:pt x="10572750" y="6953250"/>
                  </a:lnTo>
                  <a:lnTo>
                    <a:pt x="0" y="6953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73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9501188" y="3520528"/>
            <a:ext cx="7929562" cy="5214938"/>
            <a:chOff x="0" y="0"/>
            <a:chExt cx="10572750" cy="695325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10572750" cy="6953250"/>
            </a:xfrm>
            <a:custGeom>
              <a:avLst/>
              <a:gdLst/>
              <a:ahLst/>
              <a:cxnLst/>
              <a:rect l="l" t="t" r="r" b="b"/>
              <a:pathLst>
                <a:path w="10572750" h="6953250">
                  <a:moveTo>
                    <a:pt x="0" y="0"/>
                  </a:moveTo>
                  <a:lnTo>
                    <a:pt x="10572750" y="0"/>
                  </a:lnTo>
                  <a:lnTo>
                    <a:pt x="10572750" y="6953250"/>
                  </a:lnTo>
                  <a:lnTo>
                    <a:pt x="0" y="6953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273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43038" y="4176712"/>
            <a:ext cx="7095887" cy="433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Categoria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086975" y="4176712"/>
            <a:ext cx="7095887" cy="433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Produto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64808" y="4618630"/>
            <a:ext cx="6757988" cy="347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Cadastrar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nova categoria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Listar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todas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as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categorias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(COMUM e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Buscar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categoria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por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ID (COMUM e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Atualizar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categoria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existente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Excluir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categoria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86975" y="4531540"/>
            <a:ext cx="6757988" cy="347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Cadastrar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novo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 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Listar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todos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produtos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(COMUM e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Buscar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por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ID (COMUM e ADMIN) 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Atualizar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existente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</a:t>
            </a:r>
          </a:p>
          <a:p>
            <a:pPr algn="l">
              <a:lnSpc>
                <a:spcPts val="504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Excluir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(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Requer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ADMIN)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Principais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Funcionalidades</a:t>
            </a: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(CRUD)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782740" y="3324585"/>
            <a:ext cx="8722520" cy="5214938"/>
            <a:chOff x="0" y="0"/>
            <a:chExt cx="11630026" cy="695325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1630025" cy="6953250"/>
            </a:xfrm>
            <a:custGeom>
              <a:avLst/>
              <a:gdLst/>
              <a:ahLst/>
              <a:cxnLst/>
              <a:rect l="l" t="t" r="r" b="b"/>
              <a:pathLst>
                <a:path w="11630025" h="6953250">
                  <a:moveTo>
                    <a:pt x="0" y="0"/>
                  </a:moveTo>
                  <a:lnTo>
                    <a:pt x="11630025" y="0"/>
                  </a:lnTo>
                  <a:lnTo>
                    <a:pt x="11630025" y="6953250"/>
                  </a:lnTo>
                  <a:lnTo>
                    <a:pt x="0" y="6953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10301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782740" y="3870752"/>
            <a:ext cx="8722518" cy="43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Usuário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48876" y="4546512"/>
            <a:ext cx="7433787" cy="3032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Cadastrar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novo usuário com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senha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criptografada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(ADMIN)</a:t>
            </a:r>
          </a:p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Listar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todos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usuários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en-US" sz="2100" b="1" dirty="0" err="1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Requer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 ADMIN)</a:t>
            </a:r>
          </a:p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Buscar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usuário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por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ID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en-US" sz="2100" b="1" dirty="0" err="1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Requer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 ADMIN)</a:t>
            </a:r>
          </a:p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Buscar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dados do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próprio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usuário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(COMUM e ADMIN)</a:t>
            </a:r>
          </a:p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Atualizar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usuário </a:t>
            </a: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existente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en-US" sz="2100" b="1" dirty="0" err="1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Requer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 ADMIN)</a:t>
            </a:r>
          </a:p>
          <a:p>
            <a:pPr algn="ctr">
              <a:lnSpc>
                <a:spcPts val="3780"/>
              </a:lnSpc>
            </a:pPr>
            <a:r>
              <a:rPr lang="en-US" sz="2100" dirty="0" err="1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Excluir</a:t>
            </a:r>
            <a:r>
              <a:rPr lang="en-US" sz="2100" dirty="0">
                <a:solidFill>
                  <a:srgbClr val="D9D9D9"/>
                </a:solidFill>
                <a:latin typeface="Arimo"/>
                <a:ea typeface="Arimo"/>
                <a:cs typeface="Arimo"/>
                <a:sym typeface="Arimo"/>
              </a:rPr>
              <a:t> usuário 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(</a:t>
            </a:r>
            <a:r>
              <a:rPr lang="en-US" sz="2100" b="1" dirty="0" err="1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Requer</a:t>
            </a:r>
            <a:r>
              <a:rPr lang="en-US" sz="2100" b="1" dirty="0">
                <a:solidFill>
                  <a:srgbClr val="D9D9D9"/>
                </a:solidFill>
                <a:latin typeface="Arimo Bold"/>
                <a:ea typeface="Arimo Bold"/>
                <a:cs typeface="Arimo Bold"/>
                <a:sym typeface="Arimo Bold"/>
              </a:rPr>
              <a:t> ADMIN)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Principais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Funcionalidades</a:t>
            </a: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(CRUD)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857250" y="4913561"/>
            <a:ext cx="428625" cy="342900"/>
            <a:chOff x="0" y="0"/>
            <a:chExt cx="571500" cy="4572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857250" y="5699373"/>
            <a:ext cx="428625" cy="342900"/>
            <a:chOff x="0" y="0"/>
            <a:chExt cx="571500" cy="45720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7250" y="6485186"/>
            <a:ext cx="428625" cy="342900"/>
            <a:chOff x="0" y="0"/>
            <a:chExt cx="571500" cy="45720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57250" y="4122986"/>
            <a:ext cx="17402175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1">
                <a:solidFill>
                  <a:srgbClr val="CBD5E1"/>
                </a:solidFill>
                <a:latin typeface="Arimo Bold"/>
                <a:ea typeface="Arimo Bold"/>
                <a:cs typeface="Arimo Bold"/>
                <a:sym typeface="Arimo Bold"/>
              </a:rPr>
              <a:t>Relacionamentos do Modelo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7250" y="7075736"/>
            <a:ext cx="16573500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O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modelo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é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composto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pelas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entidades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Usuario,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Perfil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Categoria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. Usuario e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Perfil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usam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relacionamento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N:N (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muitos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para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muitos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),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enquanto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Categoria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Produto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usam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relacionamento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1:N (um para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muitos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71625" y="4699248"/>
            <a:ext cx="4129088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Usuario (1,n)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25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possui</a:t>
            </a:r>
            <a:r>
              <a:rPr lang="en-US" sz="225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25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(1,n) </a:t>
            </a:r>
            <a:r>
              <a:rPr lang="en-US" sz="225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Perfil</a:t>
            </a:r>
            <a:endParaRPr lang="en-US" sz="2250" b="1" dirty="0">
              <a:solidFill>
                <a:srgbClr val="F8FAFC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71625" y="5485061"/>
            <a:ext cx="438626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Perfil (1,n)</a:t>
            </a: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opera </a:t>
            </a: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(1,n) Categoria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71625" y="6270873"/>
            <a:ext cx="490061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Categoria (1,1)</a:t>
            </a:r>
            <a:r>
              <a:rPr lang="en-US" sz="225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contém </a:t>
            </a:r>
            <a:r>
              <a:rPr lang="en-US" sz="225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(1,n) Produto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Modelo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Relacional</a:t>
            </a: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(DER)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Modelo Conceitual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857250" y="2657784"/>
            <a:ext cx="16690521" cy="6126902"/>
            <a:chOff x="0" y="0"/>
            <a:chExt cx="22254028" cy="8169202"/>
          </a:xfrm>
        </p:grpSpPr>
        <p:sp>
          <p:nvSpPr>
            <p:cNvPr id="6" name="Freeform 6" descr="Diagrama  O conteúdo gerado por IA pode estar incorreto."/>
            <p:cNvSpPr/>
            <p:nvPr/>
          </p:nvSpPr>
          <p:spPr>
            <a:xfrm>
              <a:off x="0" y="0"/>
              <a:ext cx="22254083" cy="8169148"/>
            </a:xfrm>
            <a:custGeom>
              <a:avLst/>
              <a:gdLst/>
              <a:ahLst/>
              <a:cxnLst/>
              <a:rect l="l" t="t" r="r" b="b"/>
              <a:pathLst>
                <a:path w="22254083" h="8169148">
                  <a:moveTo>
                    <a:pt x="0" y="0"/>
                  </a:moveTo>
                  <a:lnTo>
                    <a:pt x="22254083" y="0"/>
                  </a:lnTo>
                  <a:lnTo>
                    <a:pt x="22254083" y="8169148"/>
                  </a:lnTo>
                  <a:lnTo>
                    <a:pt x="0" y="8169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Modelo Lógico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3335110" y="2556742"/>
            <a:ext cx="11617779" cy="6303965"/>
            <a:chOff x="0" y="0"/>
            <a:chExt cx="15490372" cy="8405286"/>
          </a:xfrm>
        </p:grpSpPr>
        <p:sp>
          <p:nvSpPr>
            <p:cNvPr id="6" name="Freeform 6" descr="Diagrama  O conteúdo gerado por IA pode estar incorreto."/>
            <p:cNvSpPr/>
            <p:nvPr/>
          </p:nvSpPr>
          <p:spPr>
            <a:xfrm>
              <a:off x="0" y="0"/>
              <a:ext cx="15490317" cy="8405241"/>
            </a:xfrm>
            <a:custGeom>
              <a:avLst/>
              <a:gdLst/>
              <a:ahLst/>
              <a:cxnLst/>
              <a:rect l="l" t="t" r="r" b="b"/>
              <a:pathLst>
                <a:path w="15490317" h="8405241">
                  <a:moveTo>
                    <a:pt x="0" y="0"/>
                  </a:moveTo>
                  <a:lnTo>
                    <a:pt x="15490317" y="0"/>
                  </a:lnTo>
                  <a:lnTo>
                    <a:pt x="15490317" y="8405241"/>
                  </a:lnTo>
                  <a:lnTo>
                    <a:pt x="0" y="8405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3741986"/>
          <a:ext cx="16554449" cy="4762500"/>
        </p:xfrm>
        <a:graphic>
          <a:graphicData uri="http://schemas.openxmlformats.org/drawingml/2006/table">
            <a:tbl>
              <a:tblPr/>
              <a:tblGrid>
                <a:gridCol w="2851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7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3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Campo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Tipo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Chave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INTEGER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PK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Identificador único do usuário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 do usuário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email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Email de login (único)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senha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Senha criptografada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4677816"/>
            <a:ext cx="2845444" cy="14288"/>
            <a:chOff x="0" y="0"/>
            <a:chExt cx="3793926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93871" cy="19050"/>
            </a:xfrm>
            <a:custGeom>
              <a:avLst/>
              <a:gdLst/>
              <a:ahLst/>
              <a:cxnLst/>
              <a:rect l="l" t="t" r="r" b="b"/>
              <a:pathLst>
                <a:path w="3793871" h="19050">
                  <a:moveTo>
                    <a:pt x="0" y="0"/>
                  </a:moveTo>
                  <a:lnTo>
                    <a:pt x="3793871" y="0"/>
                  </a:lnTo>
                  <a:lnTo>
                    <a:pt x="379387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702694" y="4677816"/>
            <a:ext cx="3394396" cy="14288"/>
            <a:chOff x="0" y="0"/>
            <a:chExt cx="4525862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25899" cy="19050"/>
            </a:xfrm>
            <a:custGeom>
              <a:avLst/>
              <a:gdLst/>
              <a:ahLst/>
              <a:cxnLst/>
              <a:rect l="l" t="t" r="r" b="b"/>
              <a:pathLst>
                <a:path w="4525899" h="19050">
                  <a:moveTo>
                    <a:pt x="0" y="0"/>
                  </a:moveTo>
                  <a:lnTo>
                    <a:pt x="4525899" y="0"/>
                  </a:lnTo>
                  <a:lnTo>
                    <a:pt x="452589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097091" y="4677816"/>
            <a:ext cx="2670645" cy="14288"/>
            <a:chOff x="0" y="0"/>
            <a:chExt cx="3560860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60826" cy="19050"/>
            </a:xfrm>
            <a:custGeom>
              <a:avLst/>
              <a:gdLst/>
              <a:ahLst/>
              <a:cxnLst/>
              <a:rect l="l" t="t" r="r" b="b"/>
              <a:pathLst>
                <a:path w="3560826" h="19050">
                  <a:moveTo>
                    <a:pt x="0" y="0"/>
                  </a:moveTo>
                  <a:lnTo>
                    <a:pt x="3560826" y="0"/>
                  </a:lnTo>
                  <a:lnTo>
                    <a:pt x="356082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767738" y="4677816"/>
            <a:ext cx="7663011" cy="14288"/>
            <a:chOff x="0" y="0"/>
            <a:chExt cx="10217348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217404" cy="19050"/>
            </a:xfrm>
            <a:custGeom>
              <a:avLst/>
              <a:gdLst/>
              <a:ahLst/>
              <a:cxnLst/>
              <a:rect l="l" t="t" r="r" b="b"/>
              <a:pathLst>
                <a:path w="10217404" h="19050">
                  <a:moveTo>
                    <a:pt x="0" y="0"/>
                  </a:moveTo>
                  <a:lnTo>
                    <a:pt x="10217404" y="0"/>
                  </a:lnTo>
                  <a:lnTo>
                    <a:pt x="1021740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5635078"/>
            <a:ext cx="2845444" cy="14288"/>
            <a:chOff x="0" y="0"/>
            <a:chExt cx="3793926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793871" cy="19050"/>
            </a:xfrm>
            <a:custGeom>
              <a:avLst/>
              <a:gdLst/>
              <a:ahLst/>
              <a:cxnLst/>
              <a:rect l="l" t="t" r="r" b="b"/>
              <a:pathLst>
                <a:path w="3793871" h="19050">
                  <a:moveTo>
                    <a:pt x="0" y="0"/>
                  </a:moveTo>
                  <a:lnTo>
                    <a:pt x="3793871" y="0"/>
                  </a:lnTo>
                  <a:lnTo>
                    <a:pt x="379387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702694" y="5635078"/>
            <a:ext cx="3394396" cy="14288"/>
            <a:chOff x="0" y="0"/>
            <a:chExt cx="4525862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525899" cy="19050"/>
            </a:xfrm>
            <a:custGeom>
              <a:avLst/>
              <a:gdLst/>
              <a:ahLst/>
              <a:cxnLst/>
              <a:rect l="l" t="t" r="r" b="b"/>
              <a:pathLst>
                <a:path w="4525899" h="19050">
                  <a:moveTo>
                    <a:pt x="0" y="0"/>
                  </a:moveTo>
                  <a:lnTo>
                    <a:pt x="4525899" y="0"/>
                  </a:lnTo>
                  <a:lnTo>
                    <a:pt x="452589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097091" y="5635078"/>
            <a:ext cx="2670645" cy="14288"/>
            <a:chOff x="0" y="0"/>
            <a:chExt cx="3560860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560826" cy="19050"/>
            </a:xfrm>
            <a:custGeom>
              <a:avLst/>
              <a:gdLst/>
              <a:ahLst/>
              <a:cxnLst/>
              <a:rect l="l" t="t" r="r" b="b"/>
              <a:pathLst>
                <a:path w="3560826" h="19050">
                  <a:moveTo>
                    <a:pt x="0" y="0"/>
                  </a:moveTo>
                  <a:lnTo>
                    <a:pt x="3560826" y="0"/>
                  </a:lnTo>
                  <a:lnTo>
                    <a:pt x="356082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67738" y="5635078"/>
            <a:ext cx="7663011" cy="14288"/>
            <a:chOff x="0" y="0"/>
            <a:chExt cx="10217348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217404" cy="19050"/>
            </a:xfrm>
            <a:custGeom>
              <a:avLst/>
              <a:gdLst/>
              <a:ahLst/>
              <a:cxnLst/>
              <a:rect l="l" t="t" r="r" b="b"/>
              <a:pathLst>
                <a:path w="10217404" h="19050">
                  <a:moveTo>
                    <a:pt x="0" y="0"/>
                  </a:moveTo>
                  <a:lnTo>
                    <a:pt x="10217404" y="0"/>
                  </a:lnTo>
                  <a:lnTo>
                    <a:pt x="1021740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592341"/>
            <a:ext cx="2845444" cy="14288"/>
            <a:chOff x="0" y="0"/>
            <a:chExt cx="3793926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93871" cy="19050"/>
            </a:xfrm>
            <a:custGeom>
              <a:avLst/>
              <a:gdLst/>
              <a:ahLst/>
              <a:cxnLst/>
              <a:rect l="l" t="t" r="r" b="b"/>
              <a:pathLst>
                <a:path w="3793871" h="19050">
                  <a:moveTo>
                    <a:pt x="0" y="0"/>
                  </a:moveTo>
                  <a:lnTo>
                    <a:pt x="3793871" y="0"/>
                  </a:lnTo>
                  <a:lnTo>
                    <a:pt x="379387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702694" y="6592341"/>
            <a:ext cx="3394396" cy="14288"/>
            <a:chOff x="0" y="0"/>
            <a:chExt cx="4525862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525899" cy="19050"/>
            </a:xfrm>
            <a:custGeom>
              <a:avLst/>
              <a:gdLst/>
              <a:ahLst/>
              <a:cxnLst/>
              <a:rect l="l" t="t" r="r" b="b"/>
              <a:pathLst>
                <a:path w="4525899" h="19050">
                  <a:moveTo>
                    <a:pt x="0" y="0"/>
                  </a:moveTo>
                  <a:lnTo>
                    <a:pt x="4525899" y="0"/>
                  </a:lnTo>
                  <a:lnTo>
                    <a:pt x="452589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097091" y="6592341"/>
            <a:ext cx="2670645" cy="14288"/>
            <a:chOff x="0" y="0"/>
            <a:chExt cx="3560860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3560826" cy="19050"/>
            </a:xfrm>
            <a:custGeom>
              <a:avLst/>
              <a:gdLst/>
              <a:ahLst/>
              <a:cxnLst/>
              <a:rect l="l" t="t" r="r" b="b"/>
              <a:pathLst>
                <a:path w="3560826" h="19050">
                  <a:moveTo>
                    <a:pt x="0" y="0"/>
                  </a:moveTo>
                  <a:lnTo>
                    <a:pt x="3560826" y="0"/>
                  </a:lnTo>
                  <a:lnTo>
                    <a:pt x="356082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767738" y="6592341"/>
            <a:ext cx="7663011" cy="14288"/>
            <a:chOff x="0" y="0"/>
            <a:chExt cx="10217348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217404" cy="19050"/>
            </a:xfrm>
            <a:custGeom>
              <a:avLst/>
              <a:gdLst/>
              <a:ahLst/>
              <a:cxnLst/>
              <a:rect l="l" t="t" r="r" b="b"/>
              <a:pathLst>
                <a:path w="10217404" h="19050">
                  <a:moveTo>
                    <a:pt x="0" y="0"/>
                  </a:moveTo>
                  <a:lnTo>
                    <a:pt x="10217404" y="0"/>
                  </a:lnTo>
                  <a:lnTo>
                    <a:pt x="1021740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7549604"/>
            <a:ext cx="2845444" cy="14288"/>
            <a:chOff x="0" y="0"/>
            <a:chExt cx="3793926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793871" cy="19050"/>
            </a:xfrm>
            <a:custGeom>
              <a:avLst/>
              <a:gdLst/>
              <a:ahLst/>
              <a:cxnLst/>
              <a:rect l="l" t="t" r="r" b="b"/>
              <a:pathLst>
                <a:path w="3793871" h="19050">
                  <a:moveTo>
                    <a:pt x="0" y="0"/>
                  </a:moveTo>
                  <a:lnTo>
                    <a:pt x="3793871" y="0"/>
                  </a:lnTo>
                  <a:lnTo>
                    <a:pt x="379387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702694" y="7549604"/>
            <a:ext cx="3394396" cy="14288"/>
            <a:chOff x="0" y="0"/>
            <a:chExt cx="4525862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525899" cy="19050"/>
            </a:xfrm>
            <a:custGeom>
              <a:avLst/>
              <a:gdLst/>
              <a:ahLst/>
              <a:cxnLst/>
              <a:rect l="l" t="t" r="r" b="b"/>
              <a:pathLst>
                <a:path w="4525899" h="19050">
                  <a:moveTo>
                    <a:pt x="0" y="0"/>
                  </a:moveTo>
                  <a:lnTo>
                    <a:pt x="4525899" y="0"/>
                  </a:lnTo>
                  <a:lnTo>
                    <a:pt x="452589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097091" y="7549604"/>
            <a:ext cx="2670645" cy="14288"/>
            <a:chOff x="0" y="0"/>
            <a:chExt cx="3560860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560826" cy="19050"/>
            </a:xfrm>
            <a:custGeom>
              <a:avLst/>
              <a:gdLst/>
              <a:ahLst/>
              <a:cxnLst/>
              <a:rect l="l" t="t" r="r" b="b"/>
              <a:pathLst>
                <a:path w="3560826" h="19050">
                  <a:moveTo>
                    <a:pt x="0" y="0"/>
                  </a:moveTo>
                  <a:lnTo>
                    <a:pt x="3560826" y="0"/>
                  </a:lnTo>
                  <a:lnTo>
                    <a:pt x="356082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767738" y="7549604"/>
            <a:ext cx="7663011" cy="14288"/>
            <a:chOff x="0" y="0"/>
            <a:chExt cx="10217348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217404" cy="19050"/>
            </a:xfrm>
            <a:custGeom>
              <a:avLst/>
              <a:gdLst/>
              <a:ahLst/>
              <a:cxnLst/>
              <a:rect l="l" t="t" r="r" b="b"/>
              <a:pathLst>
                <a:path w="10217404" h="19050">
                  <a:moveTo>
                    <a:pt x="0" y="0"/>
                  </a:moveTo>
                  <a:lnTo>
                    <a:pt x="10217404" y="0"/>
                  </a:lnTo>
                  <a:lnTo>
                    <a:pt x="1021740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Entidade: </a:t>
            </a:r>
            <a:r>
              <a:rPr lang="en-US" sz="54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Usuario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4699248"/>
          <a:ext cx="16516349" cy="2857500"/>
        </p:xfrm>
        <a:graphic>
          <a:graphicData uri="http://schemas.openxmlformats.org/drawingml/2006/table">
            <a:tbl>
              <a:tblPr/>
              <a:tblGrid>
                <a:gridCol w="26957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06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8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Campo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Tipo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Chave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INTEGER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PK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Identificador único do perfil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 do perfil (ADMIN ou COMUM)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5635078"/>
            <a:ext cx="2695202" cy="14288"/>
            <a:chOff x="0" y="0"/>
            <a:chExt cx="3593602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593592" cy="19050"/>
            </a:xfrm>
            <a:custGeom>
              <a:avLst/>
              <a:gdLst/>
              <a:ahLst/>
              <a:cxnLst/>
              <a:rect l="l" t="t" r="r" b="b"/>
              <a:pathLst>
                <a:path w="3593592" h="19050">
                  <a:moveTo>
                    <a:pt x="0" y="0"/>
                  </a:moveTo>
                  <a:lnTo>
                    <a:pt x="3593592" y="0"/>
                  </a:lnTo>
                  <a:lnTo>
                    <a:pt x="35935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552452" y="5635078"/>
            <a:ext cx="3215357" cy="14288"/>
            <a:chOff x="0" y="0"/>
            <a:chExt cx="4287142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287139" cy="19050"/>
            </a:xfrm>
            <a:custGeom>
              <a:avLst/>
              <a:gdLst/>
              <a:ahLst/>
              <a:cxnLst/>
              <a:rect l="l" t="t" r="r" b="b"/>
              <a:pathLst>
                <a:path w="4287139" h="19050">
                  <a:moveTo>
                    <a:pt x="0" y="0"/>
                  </a:moveTo>
                  <a:lnTo>
                    <a:pt x="4287139" y="0"/>
                  </a:lnTo>
                  <a:lnTo>
                    <a:pt x="428713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767810" y="5635078"/>
            <a:ext cx="2529556" cy="14288"/>
            <a:chOff x="0" y="0"/>
            <a:chExt cx="3372742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372739" cy="19050"/>
            </a:xfrm>
            <a:custGeom>
              <a:avLst/>
              <a:gdLst/>
              <a:ahLst/>
              <a:cxnLst/>
              <a:rect l="l" t="t" r="r" b="b"/>
              <a:pathLst>
                <a:path w="3372739" h="19050">
                  <a:moveTo>
                    <a:pt x="0" y="0"/>
                  </a:moveTo>
                  <a:lnTo>
                    <a:pt x="3372739" y="0"/>
                  </a:lnTo>
                  <a:lnTo>
                    <a:pt x="337273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297366" y="5635078"/>
            <a:ext cx="8133382" cy="14288"/>
            <a:chOff x="0" y="0"/>
            <a:chExt cx="1084451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844530" cy="19050"/>
            </a:xfrm>
            <a:custGeom>
              <a:avLst/>
              <a:gdLst/>
              <a:ahLst/>
              <a:cxnLst/>
              <a:rect l="l" t="t" r="r" b="b"/>
              <a:pathLst>
                <a:path w="10844530" h="19050">
                  <a:moveTo>
                    <a:pt x="0" y="0"/>
                  </a:moveTo>
                  <a:lnTo>
                    <a:pt x="10844530" y="0"/>
                  </a:lnTo>
                  <a:lnTo>
                    <a:pt x="1084453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6592341"/>
            <a:ext cx="2695202" cy="14288"/>
            <a:chOff x="0" y="0"/>
            <a:chExt cx="3593602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593592" cy="19050"/>
            </a:xfrm>
            <a:custGeom>
              <a:avLst/>
              <a:gdLst/>
              <a:ahLst/>
              <a:cxnLst/>
              <a:rect l="l" t="t" r="r" b="b"/>
              <a:pathLst>
                <a:path w="3593592" h="19050">
                  <a:moveTo>
                    <a:pt x="0" y="0"/>
                  </a:moveTo>
                  <a:lnTo>
                    <a:pt x="3593592" y="0"/>
                  </a:lnTo>
                  <a:lnTo>
                    <a:pt x="35935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552452" y="6592341"/>
            <a:ext cx="3215357" cy="14288"/>
            <a:chOff x="0" y="0"/>
            <a:chExt cx="4287142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87139" cy="19050"/>
            </a:xfrm>
            <a:custGeom>
              <a:avLst/>
              <a:gdLst/>
              <a:ahLst/>
              <a:cxnLst/>
              <a:rect l="l" t="t" r="r" b="b"/>
              <a:pathLst>
                <a:path w="4287139" h="19050">
                  <a:moveTo>
                    <a:pt x="0" y="0"/>
                  </a:moveTo>
                  <a:lnTo>
                    <a:pt x="4287139" y="0"/>
                  </a:lnTo>
                  <a:lnTo>
                    <a:pt x="428713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767810" y="6592341"/>
            <a:ext cx="2529556" cy="14288"/>
            <a:chOff x="0" y="0"/>
            <a:chExt cx="3372742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372739" cy="19050"/>
            </a:xfrm>
            <a:custGeom>
              <a:avLst/>
              <a:gdLst/>
              <a:ahLst/>
              <a:cxnLst/>
              <a:rect l="l" t="t" r="r" b="b"/>
              <a:pathLst>
                <a:path w="3372739" h="19050">
                  <a:moveTo>
                    <a:pt x="0" y="0"/>
                  </a:moveTo>
                  <a:lnTo>
                    <a:pt x="3372739" y="0"/>
                  </a:lnTo>
                  <a:lnTo>
                    <a:pt x="337273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297366" y="6592341"/>
            <a:ext cx="8133382" cy="14288"/>
            <a:chOff x="0" y="0"/>
            <a:chExt cx="10844510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844530" cy="19050"/>
            </a:xfrm>
            <a:custGeom>
              <a:avLst/>
              <a:gdLst/>
              <a:ahLst/>
              <a:cxnLst/>
              <a:rect l="l" t="t" r="r" b="b"/>
              <a:pathLst>
                <a:path w="10844530" h="19050">
                  <a:moveTo>
                    <a:pt x="0" y="0"/>
                  </a:moveTo>
                  <a:lnTo>
                    <a:pt x="10844530" y="0"/>
                  </a:lnTo>
                  <a:lnTo>
                    <a:pt x="1084453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Entidade: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Perfil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4699248"/>
          <a:ext cx="16535399" cy="2857500"/>
        </p:xfrm>
        <a:graphic>
          <a:graphicData uri="http://schemas.openxmlformats.org/drawingml/2006/table">
            <a:tbl>
              <a:tblPr/>
              <a:tblGrid>
                <a:gridCol w="2386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1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66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Campo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Tipo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Chave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INTEGER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PK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Identificador único da categoria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 da categoria (ex: Eletrônicos, Roupas)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5635078"/>
            <a:ext cx="2379537" cy="14288"/>
            <a:chOff x="0" y="0"/>
            <a:chExt cx="3172716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172714" cy="19050"/>
            </a:xfrm>
            <a:custGeom>
              <a:avLst/>
              <a:gdLst/>
              <a:ahLst/>
              <a:cxnLst/>
              <a:rect l="l" t="t" r="r" b="b"/>
              <a:pathLst>
                <a:path w="3172714" h="19050">
                  <a:moveTo>
                    <a:pt x="0" y="0"/>
                  </a:moveTo>
                  <a:lnTo>
                    <a:pt x="3172714" y="0"/>
                  </a:lnTo>
                  <a:lnTo>
                    <a:pt x="317271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236787" y="5635078"/>
            <a:ext cx="2838747" cy="14288"/>
            <a:chOff x="0" y="0"/>
            <a:chExt cx="3784996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784981" cy="19050"/>
            </a:xfrm>
            <a:custGeom>
              <a:avLst/>
              <a:gdLst/>
              <a:ahLst/>
              <a:cxnLst/>
              <a:rect l="l" t="t" r="r" b="b"/>
              <a:pathLst>
                <a:path w="3784981" h="19050">
                  <a:moveTo>
                    <a:pt x="0" y="0"/>
                  </a:moveTo>
                  <a:lnTo>
                    <a:pt x="3784981" y="0"/>
                  </a:lnTo>
                  <a:lnTo>
                    <a:pt x="378498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075536" y="5635078"/>
            <a:ext cx="2233314" cy="14288"/>
            <a:chOff x="0" y="0"/>
            <a:chExt cx="2977752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977769" cy="19050"/>
            </a:xfrm>
            <a:custGeom>
              <a:avLst/>
              <a:gdLst/>
              <a:ahLst/>
              <a:cxnLst/>
              <a:rect l="l" t="t" r="r" b="b"/>
              <a:pathLst>
                <a:path w="2977769" h="19050">
                  <a:moveTo>
                    <a:pt x="0" y="0"/>
                  </a:moveTo>
                  <a:lnTo>
                    <a:pt x="2977769" y="0"/>
                  </a:lnTo>
                  <a:lnTo>
                    <a:pt x="297776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308849" y="5635078"/>
            <a:ext cx="9121899" cy="14288"/>
            <a:chOff x="0" y="0"/>
            <a:chExt cx="12162532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162536" cy="19050"/>
            </a:xfrm>
            <a:custGeom>
              <a:avLst/>
              <a:gdLst/>
              <a:ahLst/>
              <a:cxnLst/>
              <a:rect l="l" t="t" r="r" b="b"/>
              <a:pathLst>
                <a:path w="12162536" h="19050">
                  <a:moveTo>
                    <a:pt x="0" y="0"/>
                  </a:moveTo>
                  <a:lnTo>
                    <a:pt x="12162536" y="0"/>
                  </a:lnTo>
                  <a:lnTo>
                    <a:pt x="1216253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6592341"/>
            <a:ext cx="2379537" cy="14288"/>
            <a:chOff x="0" y="0"/>
            <a:chExt cx="3172716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172714" cy="19050"/>
            </a:xfrm>
            <a:custGeom>
              <a:avLst/>
              <a:gdLst/>
              <a:ahLst/>
              <a:cxnLst/>
              <a:rect l="l" t="t" r="r" b="b"/>
              <a:pathLst>
                <a:path w="3172714" h="19050">
                  <a:moveTo>
                    <a:pt x="0" y="0"/>
                  </a:moveTo>
                  <a:lnTo>
                    <a:pt x="3172714" y="0"/>
                  </a:lnTo>
                  <a:lnTo>
                    <a:pt x="317271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236787" y="6592341"/>
            <a:ext cx="2838747" cy="14288"/>
            <a:chOff x="0" y="0"/>
            <a:chExt cx="3784996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784981" cy="19050"/>
            </a:xfrm>
            <a:custGeom>
              <a:avLst/>
              <a:gdLst/>
              <a:ahLst/>
              <a:cxnLst/>
              <a:rect l="l" t="t" r="r" b="b"/>
              <a:pathLst>
                <a:path w="3784981" h="19050">
                  <a:moveTo>
                    <a:pt x="0" y="0"/>
                  </a:moveTo>
                  <a:lnTo>
                    <a:pt x="3784981" y="0"/>
                  </a:lnTo>
                  <a:lnTo>
                    <a:pt x="378498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75536" y="6592341"/>
            <a:ext cx="2233314" cy="14288"/>
            <a:chOff x="0" y="0"/>
            <a:chExt cx="2977752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977769" cy="19050"/>
            </a:xfrm>
            <a:custGeom>
              <a:avLst/>
              <a:gdLst/>
              <a:ahLst/>
              <a:cxnLst/>
              <a:rect l="l" t="t" r="r" b="b"/>
              <a:pathLst>
                <a:path w="2977769" h="19050">
                  <a:moveTo>
                    <a:pt x="0" y="0"/>
                  </a:moveTo>
                  <a:lnTo>
                    <a:pt x="2977769" y="0"/>
                  </a:lnTo>
                  <a:lnTo>
                    <a:pt x="2977769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308849" y="6592341"/>
            <a:ext cx="9121899" cy="14288"/>
            <a:chOff x="0" y="0"/>
            <a:chExt cx="12162532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162536" cy="19050"/>
            </a:xfrm>
            <a:custGeom>
              <a:avLst/>
              <a:gdLst/>
              <a:ahLst/>
              <a:cxnLst/>
              <a:rect l="l" t="t" r="r" b="b"/>
              <a:pathLst>
                <a:path w="12162536" h="19050">
                  <a:moveTo>
                    <a:pt x="0" y="0"/>
                  </a:moveTo>
                  <a:lnTo>
                    <a:pt x="12162536" y="0"/>
                  </a:lnTo>
                  <a:lnTo>
                    <a:pt x="1216253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Entidade: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Categoria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3741986"/>
          <a:ext cx="16535401" cy="4762500"/>
        </p:xfrm>
        <a:graphic>
          <a:graphicData uri="http://schemas.openxmlformats.org/drawingml/2006/table">
            <a:tbl>
              <a:tblPr/>
              <a:tblGrid>
                <a:gridCol w="273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2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403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55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Campo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Tipo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Chave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INTEGER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PK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Identificador único do produto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VARCHAR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Nome do produto (ex: Celular, Camisa)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preco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DECIMAL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-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Preço do produto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categoria_id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INTEGER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FK → Categoria (id)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Identifica a categoria a que o produto pertence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4677816"/>
            <a:ext cx="2734047" cy="14288"/>
            <a:chOff x="0" y="0"/>
            <a:chExt cx="3645396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645408" cy="19050"/>
            </a:xfrm>
            <a:custGeom>
              <a:avLst/>
              <a:gdLst/>
              <a:ahLst/>
              <a:cxnLst/>
              <a:rect l="l" t="t" r="r" b="b"/>
              <a:pathLst>
                <a:path w="3645408" h="19050">
                  <a:moveTo>
                    <a:pt x="0" y="0"/>
                  </a:moveTo>
                  <a:lnTo>
                    <a:pt x="3645408" y="0"/>
                  </a:lnTo>
                  <a:lnTo>
                    <a:pt x="364540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591297" y="4677816"/>
            <a:ext cx="2295151" cy="14288"/>
            <a:chOff x="0" y="0"/>
            <a:chExt cx="3060202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060192" cy="19050"/>
            </a:xfrm>
            <a:custGeom>
              <a:avLst/>
              <a:gdLst/>
              <a:ahLst/>
              <a:cxnLst/>
              <a:rect l="l" t="t" r="r" b="b"/>
              <a:pathLst>
                <a:path w="3060192" h="19050">
                  <a:moveTo>
                    <a:pt x="0" y="0"/>
                  </a:moveTo>
                  <a:lnTo>
                    <a:pt x="3060192" y="0"/>
                  </a:lnTo>
                  <a:lnTo>
                    <a:pt x="30601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886450" y="4677816"/>
            <a:ext cx="3645321" cy="14288"/>
            <a:chOff x="0" y="0"/>
            <a:chExt cx="4860428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860417" cy="19050"/>
            </a:xfrm>
            <a:custGeom>
              <a:avLst/>
              <a:gdLst/>
              <a:ahLst/>
              <a:cxnLst/>
              <a:rect l="l" t="t" r="r" b="b"/>
              <a:pathLst>
                <a:path w="4860417" h="19050">
                  <a:moveTo>
                    <a:pt x="0" y="0"/>
                  </a:moveTo>
                  <a:lnTo>
                    <a:pt x="4860417" y="0"/>
                  </a:lnTo>
                  <a:lnTo>
                    <a:pt x="486041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31771" y="4677816"/>
            <a:ext cx="7898978" cy="14288"/>
            <a:chOff x="0" y="0"/>
            <a:chExt cx="1053197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983" cy="19050"/>
            </a:xfrm>
            <a:custGeom>
              <a:avLst/>
              <a:gdLst/>
              <a:ahLst/>
              <a:cxnLst/>
              <a:rect l="l" t="t" r="r" b="b"/>
              <a:pathLst>
                <a:path w="10531983" h="19050">
                  <a:moveTo>
                    <a:pt x="0" y="0"/>
                  </a:moveTo>
                  <a:lnTo>
                    <a:pt x="10531983" y="0"/>
                  </a:lnTo>
                  <a:lnTo>
                    <a:pt x="1053198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5635078"/>
            <a:ext cx="2734047" cy="14288"/>
            <a:chOff x="0" y="0"/>
            <a:chExt cx="3645396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645408" cy="19050"/>
            </a:xfrm>
            <a:custGeom>
              <a:avLst/>
              <a:gdLst/>
              <a:ahLst/>
              <a:cxnLst/>
              <a:rect l="l" t="t" r="r" b="b"/>
              <a:pathLst>
                <a:path w="3645408" h="19050">
                  <a:moveTo>
                    <a:pt x="0" y="0"/>
                  </a:moveTo>
                  <a:lnTo>
                    <a:pt x="3645408" y="0"/>
                  </a:lnTo>
                  <a:lnTo>
                    <a:pt x="364540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591297" y="5635078"/>
            <a:ext cx="2295151" cy="14288"/>
            <a:chOff x="0" y="0"/>
            <a:chExt cx="3060202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060192" cy="19050"/>
            </a:xfrm>
            <a:custGeom>
              <a:avLst/>
              <a:gdLst/>
              <a:ahLst/>
              <a:cxnLst/>
              <a:rect l="l" t="t" r="r" b="b"/>
              <a:pathLst>
                <a:path w="3060192" h="19050">
                  <a:moveTo>
                    <a:pt x="0" y="0"/>
                  </a:moveTo>
                  <a:lnTo>
                    <a:pt x="3060192" y="0"/>
                  </a:lnTo>
                  <a:lnTo>
                    <a:pt x="30601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886450" y="5635078"/>
            <a:ext cx="3645321" cy="14288"/>
            <a:chOff x="0" y="0"/>
            <a:chExt cx="4860428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860417" cy="19050"/>
            </a:xfrm>
            <a:custGeom>
              <a:avLst/>
              <a:gdLst/>
              <a:ahLst/>
              <a:cxnLst/>
              <a:rect l="l" t="t" r="r" b="b"/>
              <a:pathLst>
                <a:path w="4860417" h="19050">
                  <a:moveTo>
                    <a:pt x="0" y="0"/>
                  </a:moveTo>
                  <a:lnTo>
                    <a:pt x="4860417" y="0"/>
                  </a:lnTo>
                  <a:lnTo>
                    <a:pt x="486041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31771" y="5635078"/>
            <a:ext cx="7898978" cy="14288"/>
            <a:chOff x="0" y="0"/>
            <a:chExt cx="10531970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531983" cy="19050"/>
            </a:xfrm>
            <a:custGeom>
              <a:avLst/>
              <a:gdLst/>
              <a:ahLst/>
              <a:cxnLst/>
              <a:rect l="l" t="t" r="r" b="b"/>
              <a:pathLst>
                <a:path w="10531983" h="19050">
                  <a:moveTo>
                    <a:pt x="0" y="0"/>
                  </a:moveTo>
                  <a:lnTo>
                    <a:pt x="10531983" y="0"/>
                  </a:lnTo>
                  <a:lnTo>
                    <a:pt x="1053198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592341"/>
            <a:ext cx="2734047" cy="14288"/>
            <a:chOff x="0" y="0"/>
            <a:chExt cx="3645396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645408" cy="19050"/>
            </a:xfrm>
            <a:custGeom>
              <a:avLst/>
              <a:gdLst/>
              <a:ahLst/>
              <a:cxnLst/>
              <a:rect l="l" t="t" r="r" b="b"/>
              <a:pathLst>
                <a:path w="3645408" h="19050">
                  <a:moveTo>
                    <a:pt x="0" y="0"/>
                  </a:moveTo>
                  <a:lnTo>
                    <a:pt x="3645408" y="0"/>
                  </a:lnTo>
                  <a:lnTo>
                    <a:pt x="364540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91297" y="6592341"/>
            <a:ext cx="2295151" cy="14288"/>
            <a:chOff x="0" y="0"/>
            <a:chExt cx="3060202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060192" cy="19050"/>
            </a:xfrm>
            <a:custGeom>
              <a:avLst/>
              <a:gdLst/>
              <a:ahLst/>
              <a:cxnLst/>
              <a:rect l="l" t="t" r="r" b="b"/>
              <a:pathLst>
                <a:path w="3060192" h="19050">
                  <a:moveTo>
                    <a:pt x="0" y="0"/>
                  </a:moveTo>
                  <a:lnTo>
                    <a:pt x="3060192" y="0"/>
                  </a:lnTo>
                  <a:lnTo>
                    <a:pt x="30601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886450" y="6592341"/>
            <a:ext cx="3645321" cy="14288"/>
            <a:chOff x="0" y="0"/>
            <a:chExt cx="4860428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4860417" cy="19050"/>
            </a:xfrm>
            <a:custGeom>
              <a:avLst/>
              <a:gdLst/>
              <a:ahLst/>
              <a:cxnLst/>
              <a:rect l="l" t="t" r="r" b="b"/>
              <a:pathLst>
                <a:path w="4860417" h="19050">
                  <a:moveTo>
                    <a:pt x="0" y="0"/>
                  </a:moveTo>
                  <a:lnTo>
                    <a:pt x="4860417" y="0"/>
                  </a:lnTo>
                  <a:lnTo>
                    <a:pt x="486041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531771" y="6592341"/>
            <a:ext cx="7898978" cy="14288"/>
            <a:chOff x="0" y="0"/>
            <a:chExt cx="10531970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0531983" cy="19050"/>
            </a:xfrm>
            <a:custGeom>
              <a:avLst/>
              <a:gdLst/>
              <a:ahLst/>
              <a:cxnLst/>
              <a:rect l="l" t="t" r="r" b="b"/>
              <a:pathLst>
                <a:path w="10531983" h="19050">
                  <a:moveTo>
                    <a:pt x="0" y="0"/>
                  </a:moveTo>
                  <a:lnTo>
                    <a:pt x="10531983" y="0"/>
                  </a:lnTo>
                  <a:lnTo>
                    <a:pt x="1053198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7549604"/>
            <a:ext cx="2734047" cy="14288"/>
            <a:chOff x="0" y="0"/>
            <a:chExt cx="3645396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645408" cy="19050"/>
            </a:xfrm>
            <a:custGeom>
              <a:avLst/>
              <a:gdLst/>
              <a:ahLst/>
              <a:cxnLst/>
              <a:rect l="l" t="t" r="r" b="b"/>
              <a:pathLst>
                <a:path w="3645408" h="19050">
                  <a:moveTo>
                    <a:pt x="0" y="0"/>
                  </a:moveTo>
                  <a:lnTo>
                    <a:pt x="3645408" y="0"/>
                  </a:lnTo>
                  <a:lnTo>
                    <a:pt x="3645408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591297" y="7549604"/>
            <a:ext cx="2295151" cy="14288"/>
            <a:chOff x="0" y="0"/>
            <a:chExt cx="3060202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3060192" cy="19050"/>
            </a:xfrm>
            <a:custGeom>
              <a:avLst/>
              <a:gdLst/>
              <a:ahLst/>
              <a:cxnLst/>
              <a:rect l="l" t="t" r="r" b="b"/>
              <a:pathLst>
                <a:path w="3060192" h="19050">
                  <a:moveTo>
                    <a:pt x="0" y="0"/>
                  </a:moveTo>
                  <a:lnTo>
                    <a:pt x="3060192" y="0"/>
                  </a:lnTo>
                  <a:lnTo>
                    <a:pt x="306019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886450" y="7549604"/>
            <a:ext cx="3645321" cy="14288"/>
            <a:chOff x="0" y="0"/>
            <a:chExt cx="4860428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860417" cy="19050"/>
            </a:xfrm>
            <a:custGeom>
              <a:avLst/>
              <a:gdLst/>
              <a:ahLst/>
              <a:cxnLst/>
              <a:rect l="l" t="t" r="r" b="b"/>
              <a:pathLst>
                <a:path w="4860417" h="19050">
                  <a:moveTo>
                    <a:pt x="0" y="0"/>
                  </a:moveTo>
                  <a:lnTo>
                    <a:pt x="4860417" y="0"/>
                  </a:lnTo>
                  <a:lnTo>
                    <a:pt x="4860417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31771" y="7549604"/>
            <a:ext cx="7898978" cy="14288"/>
            <a:chOff x="0" y="0"/>
            <a:chExt cx="10531970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531983" cy="19050"/>
            </a:xfrm>
            <a:custGeom>
              <a:avLst/>
              <a:gdLst/>
              <a:ahLst/>
              <a:cxnLst/>
              <a:rect l="l" t="t" r="r" b="b"/>
              <a:pathLst>
                <a:path w="10531983" h="19050">
                  <a:moveTo>
                    <a:pt x="0" y="0"/>
                  </a:moveTo>
                  <a:lnTo>
                    <a:pt x="10531983" y="0"/>
                  </a:lnTo>
                  <a:lnTo>
                    <a:pt x="1053198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Entidade: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Produto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857250" y="3327648"/>
            <a:ext cx="7929562" cy="5600700"/>
            <a:chOff x="0" y="0"/>
            <a:chExt cx="10572750" cy="74676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572750" cy="7467600"/>
            </a:xfrm>
            <a:custGeom>
              <a:avLst/>
              <a:gdLst/>
              <a:ahLst/>
              <a:cxnLst/>
              <a:rect l="l" t="t" r="r" b="b"/>
              <a:pathLst>
                <a:path w="10572750" h="7467600">
                  <a:moveTo>
                    <a:pt x="0" y="0"/>
                  </a:moveTo>
                  <a:lnTo>
                    <a:pt x="10572750" y="0"/>
                  </a:lnTo>
                  <a:lnTo>
                    <a:pt x="10572750" y="7467600"/>
                  </a:lnTo>
                  <a:lnTo>
                    <a:pt x="0" y="7467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-255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9501188" y="3327648"/>
            <a:ext cx="7929562" cy="5600700"/>
            <a:chOff x="0" y="0"/>
            <a:chExt cx="10572750" cy="746760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10572750" cy="7467600"/>
            </a:xfrm>
            <a:custGeom>
              <a:avLst/>
              <a:gdLst/>
              <a:ahLst/>
              <a:cxnLst/>
              <a:rect l="l" t="t" r="r" b="b"/>
              <a:pathLst>
                <a:path w="10572750" h="7467600">
                  <a:moveTo>
                    <a:pt x="0" y="0"/>
                  </a:moveTo>
                  <a:lnTo>
                    <a:pt x="10572750" y="0"/>
                  </a:lnTo>
                  <a:lnTo>
                    <a:pt x="10572750" y="7467600"/>
                  </a:lnTo>
                  <a:lnTo>
                    <a:pt x="0" y="7467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255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43038" y="4237286"/>
            <a:ext cx="7095887" cy="433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Framework e Entidades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086975" y="4237286"/>
            <a:ext cx="7095887" cy="433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Regras de Acesso (Perfis)</a:t>
            </a:r>
          </a:p>
        </p:txBody>
      </p: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1443038" y="5027861"/>
            <a:ext cx="428625" cy="342900"/>
            <a:chOff x="0" y="0"/>
            <a:chExt cx="571500" cy="4572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157412" y="4832598"/>
            <a:ext cx="6043612" cy="1058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Utiliza o Spring Security para autenticação e autorização.</a:t>
            </a:r>
          </a:p>
        </p:txBody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1443038" y="6156573"/>
            <a:ext cx="428625" cy="342900"/>
            <a:chOff x="0" y="0"/>
            <a:chExt cx="571500" cy="457200"/>
          </a:xfrm>
        </p:grpSpPr>
        <p:sp>
          <p:nvSpPr>
            <p:cNvPr id="14" name="Freeform 14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157412" y="5961311"/>
            <a:ext cx="6043612" cy="1058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segurança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é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baseada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nas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entidades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Usuario e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Perfil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1443038" y="7285286"/>
            <a:ext cx="428625" cy="342900"/>
            <a:chOff x="0" y="0"/>
            <a:chExt cx="571500" cy="457200"/>
          </a:xfrm>
        </p:grpSpPr>
        <p:sp>
          <p:nvSpPr>
            <p:cNvPr id="17" name="Freeform 17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157412" y="7090023"/>
            <a:ext cx="6043612" cy="1058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senha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do Usuario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deve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ser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criptografada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(ex: com </a:t>
            </a:r>
            <a:r>
              <a:rPr lang="en-US" sz="2025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BCrypt</a:t>
            </a:r>
            <a:r>
              <a:rPr lang="en-US" sz="2025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).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0086975" y="5027861"/>
            <a:ext cx="428625" cy="342900"/>
            <a:chOff x="0" y="0"/>
            <a:chExt cx="571500" cy="457200"/>
          </a:xfrm>
        </p:grpSpPr>
        <p:sp>
          <p:nvSpPr>
            <p:cNvPr id="20" name="Freeform 20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801350" y="4832598"/>
            <a:ext cx="1772542" cy="59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Perfil COMUM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736286" y="4832598"/>
            <a:ext cx="4446576" cy="883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Acesso de leitura: pode listar e buscar produtos e categorias (GET).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0086975" y="6156573"/>
            <a:ext cx="428625" cy="342900"/>
            <a:chOff x="0" y="0"/>
            <a:chExt cx="571500" cy="457200"/>
          </a:xfrm>
        </p:grpSpPr>
        <p:sp>
          <p:nvSpPr>
            <p:cNvPr id="24" name="Freeform 24" descr="image.png"/>
            <p:cNvSpPr/>
            <p:nvPr/>
          </p:nvSpPr>
          <p:spPr>
            <a:xfrm>
              <a:off x="0" y="0"/>
              <a:ext cx="571500" cy="457200"/>
            </a:xfrm>
            <a:custGeom>
              <a:avLst/>
              <a:gdLst/>
              <a:ahLst/>
              <a:cxnLst/>
              <a:rect l="l" t="t" r="r" b="b"/>
              <a:pathLst>
                <a:path w="571500" h="457200">
                  <a:moveTo>
                    <a:pt x="0" y="0"/>
                  </a:moveTo>
                  <a:lnTo>
                    <a:pt x="571500" y="0"/>
                  </a:lnTo>
                  <a:lnTo>
                    <a:pt x="5715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4166"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0801350" y="5961311"/>
            <a:ext cx="1934936" cy="59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Perfil ADMIN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736286" y="5961311"/>
            <a:ext cx="4108675" cy="1993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5"/>
              </a:lnSpc>
            </a:pPr>
            <a:r>
              <a:rPr lang="en-US" sz="2025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Acesso total (CRUD): criar, atualizar e excluir produtos/categorias </a:t>
            </a:r>
          </a:p>
          <a:p>
            <a:pPr algn="l">
              <a:lnSpc>
                <a:spcPts val="3645"/>
              </a:lnSpc>
            </a:pPr>
            <a:r>
              <a:rPr lang="en-US" sz="2025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(POST, PUT, DELETE), além do acesso GET.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Segurança e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Autorização</a:t>
            </a: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(Spring Security)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3263354"/>
          <a:ext cx="16516349" cy="5715000"/>
        </p:xfrm>
        <a:graphic>
          <a:graphicData uri="http://schemas.openxmlformats.org/drawingml/2006/table">
            <a:tbl>
              <a:tblPr/>
              <a:tblGrid>
                <a:gridCol w="2321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1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1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2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 dirty="0" err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Método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Endpoint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Requer Perfil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/categorias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Lista todas as categorias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/categorias/{id}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 uma categoria específica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POST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/categorias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Cadastra uma nova categoria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PUT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/categorias/{id}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Atualiza uma categoria existente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253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DELETE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/categorias/{id}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Exclui uma categoria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4199186"/>
            <a:ext cx="2317030" cy="14288"/>
            <a:chOff x="0" y="0"/>
            <a:chExt cx="3089374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89402" cy="19050"/>
            </a:xfrm>
            <a:custGeom>
              <a:avLst/>
              <a:gdLst/>
              <a:ahLst/>
              <a:cxnLst/>
              <a:rect l="l" t="t" r="r" b="b"/>
              <a:pathLst>
                <a:path w="3089402" h="19050">
                  <a:moveTo>
                    <a:pt x="0" y="0"/>
                  </a:moveTo>
                  <a:lnTo>
                    <a:pt x="3089402" y="0"/>
                  </a:lnTo>
                  <a:lnTo>
                    <a:pt x="30894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174280" y="4199186"/>
            <a:ext cx="3711177" cy="14288"/>
            <a:chOff x="0" y="0"/>
            <a:chExt cx="4948236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948174" cy="19050"/>
            </a:xfrm>
            <a:custGeom>
              <a:avLst/>
              <a:gdLst/>
              <a:ahLst/>
              <a:cxnLst/>
              <a:rect l="l" t="t" r="r" b="b"/>
              <a:pathLst>
                <a:path w="4948174" h="19050">
                  <a:moveTo>
                    <a:pt x="0" y="0"/>
                  </a:moveTo>
                  <a:lnTo>
                    <a:pt x="4948174" y="0"/>
                  </a:lnTo>
                  <a:lnTo>
                    <a:pt x="494817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885458" y="4199186"/>
            <a:ext cx="6853088" cy="14288"/>
            <a:chOff x="0" y="0"/>
            <a:chExt cx="9137450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137396" cy="19050"/>
            </a:xfrm>
            <a:custGeom>
              <a:avLst/>
              <a:gdLst/>
              <a:ahLst/>
              <a:cxnLst/>
              <a:rect l="l" t="t" r="r" b="b"/>
              <a:pathLst>
                <a:path w="9137396" h="19050">
                  <a:moveTo>
                    <a:pt x="0" y="0"/>
                  </a:moveTo>
                  <a:lnTo>
                    <a:pt x="9137396" y="0"/>
                  </a:lnTo>
                  <a:lnTo>
                    <a:pt x="91373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738547" y="4199186"/>
            <a:ext cx="3692202" cy="14288"/>
            <a:chOff x="0" y="0"/>
            <a:chExt cx="4922936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22901" cy="19050"/>
            </a:xfrm>
            <a:custGeom>
              <a:avLst/>
              <a:gdLst/>
              <a:ahLst/>
              <a:cxnLst/>
              <a:rect l="l" t="t" r="r" b="b"/>
              <a:pathLst>
                <a:path w="4922901" h="19050">
                  <a:moveTo>
                    <a:pt x="0" y="0"/>
                  </a:moveTo>
                  <a:lnTo>
                    <a:pt x="4922901" y="0"/>
                  </a:lnTo>
                  <a:lnTo>
                    <a:pt x="492290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5156448"/>
            <a:ext cx="2317030" cy="14288"/>
            <a:chOff x="0" y="0"/>
            <a:chExt cx="3089374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89402" cy="19050"/>
            </a:xfrm>
            <a:custGeom>
              <a:avLst/>
              <a:gdLst/>
              <a:ahLst/>
              <a:cxnLst/>
              <a:rect l="l" t="t" r="r" b="b"/>
              <a:pathLst>
                <a:path w="3089402" h="19050">
                  <a:moveTo>
                    <a:pt x="0" y="0"/>
                  </a:moveTo>
                  <a:lnTo>
                    <a:pt x="3089402" y="0"/>
                  </a:lnTo>
                  <a:lnTo>
                    <a:pt x="30894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174280" y="5156448"/>
            <a:ext cx="3711177" cy="14288"/>
            <a:chOff x="0" y="0"/>
            <a:chExt cx="4948236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948174" cy="19050"/>
            </a:xfrm>
            <a:custGeom>
              <a:avLst/>
              <a:gdLst/>
              <a:ahLst/>
              <a:cxnLst/>
              <a:rect l="l" t="t" r="r" b="b"/>
              <a:pathLst>
                <a:path w="4948174" h="19050">
                  <a:moveTo>
                    <a:pt x="0" y="0"/>
                  </a:moveTo>
                  <a:lnTo>
                    <a:pt x="4948174" y="0"/>
                  </a:lnTo>
                  <a:lnTo>
                    <a:pt x="494817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85458" y="5156448"/>
            <a:ext cx="6853088" cy="14288"/>
            <a:chOff x="0" y="0"/>
            <a:chExt cx="9137450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37396" cy="19050"/>
            </a:xfrm>
            <a:custGeom>
              <a:avLst/>
              <a:gdLst/>
              <a:ahLst/>
              <a:cxnLst/>
              <a:rect l="l" t="t" r="r" b="b"/>
              <a:pathLst>
                <a:path w="9137396" h="19050">
                  <a:moveTo>
                    <a:pt x="0" y="0"/>
                  </a:moveTo>
                  <a:lnTo>
                    <a:pt x="9137396" y="0"/>
                  </a:lnTo>
                  <a:lnTo>
                    <a:pt x="91373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738547" y="5156448"/>
            <a:ext cx="3692202" cy="14288"/>
            <a:chOff x="0" y="0"/>
            <a:chExt cx="4922936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922901" cy="19050"/>
            </a:xfrm>
            <a:custGeom>
              <a:avLst/>
              <a:gdLst/>
              <a:ahLst/>
              <a:cxnLst/>
              <a:rect l="l" t="t" r="r" b="b"/>
              <a:pathLst>
                <a:path w="4922901" h="19050">
                  <a:moveTo>
                    <a:pt x="0" y="0"/>
                  </a:moveTo>
                  <a:lnTo>
                    <a:pt x="4922901" y="0"/>
                  </a:lnTo>
                  <a:lnTo>
                    <a:pt x="492290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113711"/>
            <a:ext cx="2317030" cy="14288"/>
            <a:chOff x="0" y="0"/>
            <a:chExt cx="3089374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089402" cy="19050"/>
            </a:xfrm>
            <a:custGeom>
              <a:avLst/>
              <a:gdLst/>
              <a:ahLst/>
              <a:cxnLst/>
              <a:rect l="l" t="t" r="r" b="b"/>
              <a:pathLst>
                <a:path w="3089402" h="19050">
                  <a:moveTo>
                    <a:pt x="0" y="0"/>
                  </a:moveTo>
                  <a:lnTo>
                    <a:pt x="3089402" y="0"/>
                  </a:lnTo>
                  <a:lnTo>
                    <a:pt x="30894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174280" y="6113711"/>
            <a:ext cx="3711177" cy="14288"/>
            <a:chOff x="0" y="0"/>
            <a:chExt cx="4948236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948174" cy="19050"/>
            </a:xfrm>
            <a:custGeom>
              <a:avLst/>
              <a:gdLst/>
              <a:ahLst/>
              <a:cxnLst/>
              <a:rect l="l" t="t" r="r" b="b"/>
              <a:pathLst>
                <a:path w="4948174" h="19050">
                  <a:moveTo>
                    <a:pt x="0" y="0"/>
                  </a:moveTo>
                  <a:lnTo>
                    <a:pt x="4948174" y="0"/>
                  </a:lnTo>
                  <a:lnTo>
                    <a:pt x="494817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85458" y="6113711"/>
            <a:ext cx="6853088" cy="14288"/>
            <a:chOff x="0" y="0"/>
            <a:chExt cx="9137450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137396" cy="19050"/>
            </a:xfrm>
            <a:custGeom>
              <a:avLst/>
              <a:gdLst/>
              <a:ahLst/>
              <a:cxnLst/>
              <a:rect l="l" t="t" r="r" b="b"/>
              <a:pathLst>
                <a:path w="9137396" h="19050">
                  <a:moveTo>
                    <a:pt x="0" y="0"/>
                  </a:moveTo>
                  <a:lnTo>
                    <a:pt x="9137396" y="0"/>
                  </a:lnTo>
                  <a:lnTo>
                    <a:pt x="91373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738547" y="6113711"/>
            <a:ext cx="3692202" cy="14288"/>
            <a:chOff x="0" y="0"/>
            <a:chExt cx="4922936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22901" cy="19050"/>
            </a:xfrm>
            <a:custGeom>
              <a:avLst/>
              <a:gdLst/>
              <a:ahLst/>
              <a:cxnLst/>
              <a:rect l="l" t="t" r="r" b="b"/>
              <a:pathLst>
                <a:path w="4922901" h="19050">
                  <a:moveTo>
                    <a:pt x="0" y="0"/>
                  </a:moveTo>
                  <a:lnTo>
                    <a:pt x="4922901" y="0"/>
                  </a:lnTo>
                  <a:lnTo>
                    <a:pt x="492290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7070973"/>
            <a:ext cx="2317030" cy="14288"/>
            <a:chOff x="0" y="0"/>
            <a:chExt cx="3089374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089402" cy="19050"/>
            </a:xfrm>
            <a:custGeom>
              <a:avLst/>
              <a:gdLst/>
              <a:ahLst/>
              <a:cxnLst/>
              <a:rect l="l" t="t" r="r" b="b"/>
              <a:pathLst>
                <a:path w="3089402" h="19050">
                  <a:moveTo>
                    <a:pt x="0" y="0"/>
                  </a:moveTo>
                  <a:lnTo>
                    <a:pt x="3089402" y="0"/>
                  </a:lnTo>
                  <a:lnTo>
                    <a:pt x="30894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174280" y="7070973"/>
            <a:ext cx="3711177" cy="14288"/>
            <a:chOff x="0" y="0"/>
            <a:chExt cx="4948236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948174" cy="19050"/>
            </a:xfrm>
            <a:custGeom>
              <a:avLst/>
              <a:gdLst/>
              <a:ahLst/>
              <a:cxnLst/>
              <a:rect l="l" t="t" r="r" b="b"/>
              <a:pathLst>
                <a:path w="4948174" h="19050">
                  <a:moveTo>
                    <a:pt x="0" y="0"/>
                  </a:moveTo>
                  <a:lnTo>
                    <a:pt x="4948174" y="0"/>
                  </a:lnTo>
                  <a:lnTo>
                    <a:pt x="494817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85458" y="7070973"/>
            <a:ext cx="6853088" cy="14288"/>
            <a:chOff x="0" y="0"/>
            <a:chExt cx="9137450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9137396" cy="19050"/>
            </a:xfrm>
            <a:custGeom>
              <a:avLst/>
              <a:gdLst/>
              <a:ahLst/>
              <a:cxnLst/>
              <a:rect l="l" t="t" r="r" b="b"/>
              <a:pathLst>
                <a:path w="9137396" h="19050">
                  <a:moveTo>
                    <a:pt x="0" y="0"/>
                  </a:moveTo>
                  <a:lnTo>
                    <a:pt x="9137396" y="0"/>
                  </a:lnTo>
                  <a:lnTo>
                    <a:pt x="91373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38547" y="7070973"/>
            <a:ext cx="3692202" cy="14288"/>
            <a:chOff x="0" y="0"/>
            <a:chExt cx="4922936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4922901" cy="19050"/>
            </a:xfrm>
            <a:custGeom>
              <a:avLst/>
              <a:gdLst/>
              <a:ahLst/>
              <a:cxnLst/>
              <a:rect l="l" t="t" r="r" b="b"/>
              <a:pathLst>
                <a:path w="4922901" h="19050">
                  <a:moveTo>
                    <a:pt x="0" y="0"/>
                  </a:moveTo>
                  <a:lnTo>
                    <a:pt x="4922901" y="0"/>
                  </a:lnTo>
                  <a:lnTo>
                    <a:pt x="492290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57250" y="8028236"/>
            <a:ext cx="2317030" cy="14288"/>
            <a:chOff x="0" y="0"/>
            <a:chExt cx="3089374" cy="1905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3089402" cy="19050"/>
            </a:xfrm>
            <a:custGeom>
              <a:avLst/>
              <a:gdLst/>
              <a:ahLst/>
              <a:cxnLst/>
              <a:rect l="l" t="t" r="r" b="b"/>
              <a:pathLst>
                <a:path w="3089402" h="19050">
                  <a:moveTo>
                    <a:pt x="0" y="0"/>
                  </a:moveTo>
                  <a:lnTo>
                    <a:pt x="3089402" y="0"/>
                  </a:lnTo>
                  <a:lnTo>
                    <a:pt x="3089402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174280" y="8028236"/>
            <a:ext cx="3711177" cy="14288"/>
            <a:chOff x="0" y="0"/>
            <a:chExt cx="4948236" cy="1905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4948174" cy="19050"/>
            </a:xfrm>
            <a:custGeom>
              <a:avLst/>
              <a:gdLst/>
              <a:ahLst/>
              <a:cxnLst/>
              <a:rect l="l" t="t" r="r" b="b"/>
              <a:pathLst>
                <a:path w="4948174" h="19050">
                  <a:moveTo>
                    <a:pt x="0" y="0"/>
                  </a:moveTo>
                  <a:lnTo>
                    <a:pt x="4948174" y="0"/>
                  </a:lnTo>
                  <a:lnTo>
                    <a:pt x="494817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885458" y="8028236"/>
            <a:ext cx="6853088" cy="14288"/>
            <a:chOff x="0" y="0"/>
            <a:chExt cx="9137450" cy="1905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9137396" cy="19050"/>
            </a:xfrm>
            <a:custGeom>
              <a:avLst/>
              <a:gdLst/>
              <a:ahLst/>
              <a:cxnLst/>
              <a:rect l="l" t="t" r="r" b="b"/>
              <a:pathLst>
                <a:path w="9137396" h="19050">
                  <a:moveTo>
                    <a:pt x="0" y="0"/>
                  </a:moveTo>
                  <a:lnTo>
                    <a:pt x="9137396" y="0"/>
                  </a:lnTo>
                  <a:lnTo>
                    <a:pt x="91373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738547" y="8028236"/>
            <a:ext cx="3692202" cy="14288"/>
            <a:chOff x="0" y="0"/>
            <a:chExt cx="4922936" cy="1905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922901" cy="19050"/>
            </a:xfrm>
            <a:custGeom>
              <a:avLst/>
              <a:gdLst/>
              <a:ahLst/>
              <a:cxnLst/>
              <a:rect l="l" t="t" r="r" b="b"/>
              <a:pathLst>
                <a:path w="4922901" h="19050">
                  <a:moveTo>
                    <a:pt x="0" y="0"/>
                  </a:moveTo>
                  <a:lnTo>
                    <a:pt x="4922901" y="0"/>
                  </a:lnTo>
                  <a:lnTo>
                    <a:pt x="4922901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Rotas</a:t>
            </a:r>
            <a:r>
              <a:rPr lang="en-US" sz="54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da API </a:t>
            </a:r>
            <a:r>
              <a:rPr lang="en-US" sz="54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Categoria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57250" y="3263354"/>
          <a:ext cx="16535400" cy="5715000"/>
        </p:xfrm>
        <a:graphic>
          <a:graphicData uri="http://schemas.openxmlformats.org/drawingml/2006/table">
            <a:tbl>
              <a:tblPr/>
              <a:tblGrid>
                <a:gridCol w="2459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1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Método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Endpoint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Requer Perfil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/produtos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Lista todos os produtos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/produtos/{id}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 um produto específico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POST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/produtos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Cadastra um novo produto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PUT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/produtos/{id}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Atualiza um produto existente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253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DELETE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/produtos/{id}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Exclui um produto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5" name="Group 5"/>
          <p:cNvGrpSpPr/>
          <p:nvPr/>
        </p:nvGrpSpPr>
        <p:grpSpPr>
          <a:xfrm>
            <a:off x="857250" y="4199186"/>
            <a:ext cx="2453654" cy="14288"/>
            <a:chOff x="0" y="0"/>
            <a:chExt cx="3271538" cy="190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310904" y="4199186"/>
            <a:ext cx="3576562" cy="14288"/>
            <a:chOff x="0" y="0"/>
            <a:chExt cx="4768750" cy="190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887467" y="4199186"/>
            <a:ext cx="6633417" cy="14288"/>
            <a:chOff x="0" y="0"/>
            <a:chExt cx="8844556" cy="190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520886" y="4199186"/>
            <a:ext cx="3909862" cy="14288"/>
            <a:chOff x="0" y="0"/>
            <a:chExt cx="5213150" cy="1905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57250" y="5156448"/>
            <a:ext cx="2453654" cy="14288"/>
            <a:chOff x="0" y="0"/>
            <a:chExt cx="3271538" cy="190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310904" y="5156448"/>
            <a:ext cx="3576562" cy="14288"/>
            <a:chOff x="0" y="0"/>
            <a:chExt cx="4768750" cy="190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87467" y="5156448"/>
            <a:ext cx="6633417" cy="14288"/>
            <a:chOff x="0" y="0"/>
            <a:chExt cx="8844556" cy="1905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520886" y="5156448"/>
            <a:ext cx="3909862" cy="14288"/>
            <a:chOff x="0" y="0"/>
            <a:chExt cx="5213150" cy="190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57250" y="6113711"/>
            <a:ext cx="2453654" cy="14288"/>
            <a:chOff x="0" y="0"/>
            <a:chExt cx="3271538" cy="1905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310904" y="6113711"/>
            <a:ext cx="3576562" cy="14288"/>
            <a:chOff x="0" y="0"/>
            <a:chExt cx="4768750" cy="19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887467" y="6113711"/>
            <a:ext cx="6633417" cy="14288"/>
            <a:chOff x="0" y="0"/>
            <a:chExt cx="8844556" cy="1905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3520886" y="6113711"/>
            <a:ext cx="3909862" cy="14288"/>
            <a:chOff x="0" y="0"/>
            <a:chExt cx="5213150" cy="1905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7070973"/>
            <a:ext cx="2453654" cy="14288"/>
            <a:chOff x="0" y="0"/>
            <a:chExt cx="3271538" cy="1905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310904" y="7070973"/>
            <a:ext cx="3576562" cy="14288"/>
            <a:chOff x="0" y="0"/>
            <a:chExt cx="4768750" cy="190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887467" y="7070973"/>
            <a:ext cx="6633417" cy="14288"/>
            <a:chOff x="0" y="0"/>
            <a:chExt cx="8844556" cy="1905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520886" y="7070973"/>
            <a:ext cx="3909862" cy="14288"/>
            <a:chOff x="0" y="0"/>
            <a:chExt cx="5213150" cy="1905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57250" y="8028236"/>
            <a:ext cx="2453654" cy="14288"/>
            <a:chOff x="0" y="0"/>
            <a:chExt cx="3271538" cy="1905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310904" y="8028236"/>
            <a:ext cx="3576562" cy="14288"/>
            <a:chOff x="0" y="0"/>
            <a:chExt cx="4768750" cy="1905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887467" y="8028236"/>
            <a:ext cx="6633417" cy="14288"/>
            <a:chOff x="0" y="0"/>
            <a:chExt cx="8844556" cy="1905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3520886" y="8028236"/>
            <a:ext cx="3909862" cy="14288"/>
            <a:chOff x="0" y="0"/>
            <a:chExt cx="5213150" cy="1905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857250" y="1397718"/>
            <a:ext cx="17402175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Rotas da API </a:t>
            </a:r>
            <a:r>
              <a:rPr lang="en-US" sz="5400" b="1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Produto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4281799"/>
              </p:ext>
            </p:extLst>
          </p:nvPr>
        </p:nvGraphicFramePr>
        <p:xfrm>
          <a:off x="857250" y="4220617"/>
          <a:ext cx="16535399" cy="5715000"/>
        </p:xfrm>
        <a:graphic>
          <a:graphicData uri="http://schemas.openxmlformats.org/drawingml/2006/table">
            <a:tbl>
              <a:tblPr/>
              <a:tblGrid>
                <a:gridCol w="24503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3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9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Método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Endpoint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Requer Perfil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Lista todos os produtos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 um produto específico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/usuarios/[id}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Cadastra um novo produto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POST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/usuarios/[id}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Atualiza um produto existente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253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Delete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</a:t>
                      </a: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usuarios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/[id}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Exclui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um usuario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04216"/>
              </p:ext>
            </p:extLst>
          </p:nvPr>
        </p:nvGraphicFramePr>
        <p:xfrm>
          <a:off x="857250" y="3263354"/>
          <a:ext cx="16535400" cy="5715000"/>
        </p:xfrm>
        <a:graphic>
          <a:graphicData uri="http://schemas.openxmlformats.org/drawingml/2006/table">
            <a:tbl>
              <a:tblPr/>
              <a:tblGrid>
                <a:gridCol w="2459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1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Método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Endpoint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Descrição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b="1">
                          <a:solidFill>
                            <a:srgbClr val="F8FAFC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Requer Perfil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/usuarios/me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proprio usuario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COMUM ou 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 usuarios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GET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/usuarios/[id}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retorna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usuario </a:t>
                      </a: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especifico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249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POST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/usuarios/[id}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Cadastra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usuario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253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PUT</a:t>
                      </a:r>
                      <a:endParaRPr lang="en-US" sz="110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</a:t>
                      </a: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usuarios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/[id}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 err="1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Atualiza</a:t>
                      </a: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usuario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dirty="0">
                          <a:solidFill>
                            <a:srgbClr val="CBD5E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ADMIN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Group 6"/>
          <p:cNvGrpSpPr/>
          <p:nvPr/>
        </p:nvGrpSpPr>
        <p:grpSpPr>
          <a:xfrm>
            <a:off x="857250" y="4199186"/>
            <a:ext cx="2453654" cy="14288"/>
            <a:chOff x="0" y="0"/>
            <a:chExt cx="3271538" cy="190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310904" y="4199186"/>
            <a:ext cx="3576562" cy="14288"/>
            <a:chOff x="0" y="0"/>
            <a:chExt cx="4768750" cy="190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887467" y="4199186"/>
            <a:ext cx="6633417" cy="14288"/>
            <a:chOff x="0" y="0"/>
            <a:chExt cx="8844556" cy="1905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520886" y="4199186"/>
            <a:ext cx="3909862" cy="14288"/>
            <a:chOff x="0" y="0"/>
            <a:chExt cx="5213150" cy="1905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57250" y="5156448"/>
            <a:ext cx="2453654" cy="14288"/>
            <a:chOff x="0" y="0"/>
            <a:chExt cx="3271538" cy="190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3310904" y="5156448"/>
            <a:ext cx="3576562" cy="14288"/>
            <a:chOff x="0" y="0"/>
            <a:chExt cx="4768750" cy="190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887467" y="5156448"/>
            <a:ext cx="6633417" cy="14288"/>
            <a:chOff x="0" y="0"/>
            <a:chExt cx="8844556" cy="190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520886" y="5156448"/>
            <a:ext cx="3909862" cy="14288"/>
            <a:chOff x="0" y="0"/>
            <a:chExt cx="5213150" cy="1905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57250" y="6113711"/>
            <a:ext cx="2453654" cy="14288"/>
            <a:chOff x="0" y="0"/>
            <a:chExt cx="3271538" cy="19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310904" y="6113711"/>
            <a:ext cx="3576562" cy="14288"/>
            <a:chOff x="0" y="0"/>
            <a:chExt cx="4768750" cy="1905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87467" y="6113711"/>
            <a:ext cx="6633417" cy="14288"/>
            <a:chOff x="0" y="0"/>
            <a:chExt cx="8844556" cy="1905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3520886" y="6113711"/>
            <a:ext cx="3909862" cy="14288"/>
            <a:chOff x="0" y="0"/>
            <a:chExt cx="5213150" cy="1905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857250" y="7070973"/>
            <a:ext cx="2453654" cy="14288"/>
            <a:chOff x="0" y="0"/>
            <a:chExt cx="3271538" cy="1905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3310904" y="7070973"/>
            <a:ext cx="3576562" cy="14288"/>
            <a:chOff x="0" y="0"/>
            <a:chExt cx="4768750" cy="190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887467" y="7070973"/>
            <a:ext cx="6633417" cy="14288"/>
            <a:chOff x="0" y="0"/>
            <a:chExt cx="8844556" cy="1905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3520886" y="7070973"/>
            <a:ext cx="3909862" cy="14288"/>
            <a:chOff x="0" y="0"/>
            <a:chExt cx="5213150" cy="1905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857250" y="8028236"/>
            <a:ext cx="2453654" cy="14288"/>
            <a:chOff x="0" y="0"/>
            <a:chExt cx="3271538" cy="1905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271520" cy="19050"/>
            </a:xfrm>
            <a:custGeom>
              <a:avLst/>
              <a:gdLst/>
              <a:ahLst/>
              <a:cxnLst/>
              <a:rect l="l" t="t" r="r" b="b"/>
              <a:pathLst>
                <a:path w="3271520" h="19050">
                  <a:moveTo>
                    <a:pt x="0" y="0"/>
                  </a:moveTo>
                  <a:lnTo>
                    <a:pt x="3271520" y="0"/>
                  </a:lnTo>
                  <a:lnTo>
                    <a:pt x="327152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3310904" y="8028236"/>
            <a:ext cx="3576562" cy="14288"/>
            <a:chOff x="0" y="0"/>
            <a:chExt cx="4768750" cy="1905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768723" cy="19050"/>
            </a:xfrm>
            <a:custGeom>
              <a:avLst/>
              <a:gdLst/>
              <a:ahLst/>
              <a:cxnLst/>
              <a:rect l="l" t="t" r="r" b="b"/>
              <a:pathLst>
                <a:path w="4768723" h="19050">
                  <a:moveTo>
                    <a:pt x="0" y="0"/>
                  </a:moveTo>
                  <a:lnTo>
                    <a:pt x="4768723" y="0"/>
                  </a:lnTo>
                  <a:lnTo>
                    <a:pt x="476872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887467" y="8028236"/>
            <a:ext cx="6633417" cy="14288"/>
            <a:chOff x="0" y="0"/>
            <a:chExt cx="8844556" cy="1905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844534" cy="19050"/>
            </a:xfrm>
            <a:custGeom>
              <a:avLst/>
              <a:gdLst/>
              <a:ahLst/>
              <a:cxnLst/>
              <a:rect l="l" t="t" r="r" b="b"/>
              <a:pathLst>
                <a:path w="8844534" h="19050">
                  <a:moveTo>
                    <a:pt x="0" y="0"/>
                  </a:moveTo>
                  <a:lnTo>
                    <a:pt x="8844534" y="0"/>
                  </a:lnTo>
                  <a:lnTo>
                    <a:pt x="8844534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3520886" y="8028236"/>
            <a:ext cx="3909862" cy="14288"/>
            <a:chOff x="0" y="0"/>
            <a:chExt cx="5213150" cy="1905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213096" cy="19050"/>
            </a:xfrm>
            <a:custGeom>
              <a:avLst/>
              <a:gdLst/>
              <a:ahLst/>
              <a:cxnLst/>
              <a:rect l="l" t="t" r="r" b="b"/>
              <a:pathLst>
                <a:path w="5213096" h="19050">
                  <a:moveTo>
                    <a:pt x="0" y="0"/>
                  </a:moveTo>
                  <a:lnTo>
                    <a:pt x="5213096" y="0"/>
                  </a:lnTo>
                  <a:lnTo>
                    <a:pt x="5213096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33415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857250" y="1397718"/>
            <a:ext cx="17402175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sz="5400" b="1" dirty="0" err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Rotas</a:t>
            </a:r>
            <a:r>
              <a:rPr lang="en-US" sz="5400" b="1" dirty="0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 da API </a:t>
            </a:r>
            <a:r>
              <a:rPr lang="en-US" sz="5400" b="1" dirty="0">
                <a:solidFill>
                  <a:srgbClr val="A3E635"/>
                </a:solidFill>
                <a:latin typeface="Arimo Bold"/>
                <a:ea typeface="Arimo Bold"/>
                <a:cs typeface="Arimo Bold"/>
                <a:sym typeface="Arimo Bold"/>
              </a:rPr>
              <a:t>Usuario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429625" y="3349749"/>
            <a:ext cx="1428750" cy="57150"/>
            <a:chOff x="0" y="0"/>
            <a:chExt cx="1905000" cy="762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05000" cy="76200"/>
            </a:xfrm>
            <a:custGeom>
              <a:avLst/>
              <a:gdLst/>
              <a:ahLst/>
              <a:cxnLst/>
              <a:rect l="l" t="t" r="r" b="b"/>
              <a:pathLst>
                <a:path w="1905000" h="762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3E635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345248" y="4228247"/>
            <a:ext cx="7597503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0"/>
              </a:lnSpc>
            </a:pPr>
            <a:r>
              <a:rPr lang="en-US" sz="7875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Testes da API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45248" y="6179347"/>
            <a:ext cx="7597503" cy="5500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lang="en-US" sz="2700" dirty="0" err="1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Demonstração</a:t>
            </a:r>
            <a:r>
              <a:rPr lang="en-US" sz="2700" dirty="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 dos Endpoints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42912" y="4293690"/>
            <a:ext cx="17402175" cy="1409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b="1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Perguntas?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57250" y="5874840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60"/>
              </a:lnSpc>
            </a:pPr>
            <a:r>
              <a:rPr lang="en-US" sz="270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927</Words>
  <Application>Microsoft Office PowerPoint</Application>
  <PresentationFormat>Personalizar</PresentationFormat>
  <Paragraphs>287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Arimo</vt:lpstr>
      <vt:lpstr>Calibri</vt:lpstr>
      <vt:lpstr>Arial</vt:lpstr>
      <vt:lpstr>Arimo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Documentação do Projeto - Cadastro de Produtos (1)jnn(pdfgear.com).pptx</dc:title>
  <dc:creator>João Marcos</dc:creator>
  <cp:lastModifiedBy>João Marcos</cp:lastModifiedBy>
  <cp:revision>4</cp:revision>
  <dcterms:created xsi:type="dcterms:W3CDTF">2006-08-16T00:00:00Z</dcterms:created>
  <dcterms:modified xsi:type="dcterms:W3CDTF">2025-11-14T14:00:50Z</dcterms:modified>
  <dc:identifier>DAG4fgCIAK0</dc:identifier>
</cp:coreProperties>
</file>