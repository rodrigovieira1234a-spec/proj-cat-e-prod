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76" r:id="rId7"/>
    <p:sldId id="262" r:id="rId8"/>
    <p:sldId id="277" r:id="rId9"/>
    <p:sldId id="278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5" r:id="rId19"/>
  </p:sldIdLst>
  <p:sldSz cx="12192000" cy="6858000"/>
  <p:notesSz cx="6858000" cy="9144000"/>
  <p:embeddedFontLst>
    <p:embeddedFont>
      <p:font typeface="Urbanist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5270845-8E29-47A4-926C-3CECF97C9C3A}">
  <a:tblStyle styleId="{95270845-8E29-47A4-926C-3CECF97C9C3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876" y="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29EC83BE-BCB6-8CB7-5B77-B919BE038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>
            <a:extLst>
              <a:ext uri="{FF2B5EF4-FFF2-40B4-BE49-F238E27FC236}">
                <a16:creationId xmlns:a16="http://schemas.microsoft.com/office/drawing/2014/main" id="{53824547-0999-93FA-2561-DA46125D9C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5:notes">
            <a:extLst>
              <a:ext uri="{FF2B5EF4-FFF2-40B4-BE49-F238E27FC236}">
                <a16:creationId xmlns:a16="http://schemas.microsoft.com/office/drawing/2014/main" id="{7FF01477-0CAD-476E-DC68-E1AFEE71F5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84945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FF74E0BE-16B2-A65F-82BF-08BCD8762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>
            <a:extLst>
              <a:ext uri="{FF2B5EF4-FFF2-40B4-BE49-F238E27FC236}">
                <a16:creationId xmlns:a16="http://schemas.microsoft.com/office/drawing/2014/main" id="{7F59A9D3-2439-74FC-8068-CE1AABB75D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:notes">
            <a:extLst>
              <a:ext uri="{FF2B5EF4-FFF2-40B4-BE49-F238E27FC236}">
                <a16:creationId xmlns:a16="http://schemas.microsoft.com/office/drawing/2014/main" id="{24F1DCA6-2B99-234C-ECAC-B132656F95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84552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A6A468B9-3D4C-A822-308C-4B5AA5CC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>
            <a:extLst>
              <a:ext uri="{FF2B5EF4-FFF2-40B4-BE49-F238E27FC236}">
                <a16:creationId xmlns:a16="http://schemas.microsoft.com/office/drawing/2014/main" id="{A9B78B04-9735-C6F3-B141-45792C746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:notes">
            <a:extLst>
              <a:ext uri="{FF2B5EF4-FFF2-40B4-BE49-F238E27FC236}">
                <a16:creationId xmlns:a16="http://schemas.microsoft.com/office/drawing/2014/main" id="{498BB31F-2BD0-62FD-AD81-4D7174C1C0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0606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2152650"/>
            <a:ext cx="1160145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Sistema de Cadastro de Produtos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4171950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Documentação do Projeto (Java / Spring Boot / MySQL)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1850554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Descrição</a:t>
            </a:r>
            <a:r>
              <a:rPr lang="en-US" sz="21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Geral</a:t>
            </a:r>
            <a:endParaRPr dirty="0"/>
          </a:p>
        </p:txBody>
      </p:sp>
      <p:sp>
        <p:nvSpPr>
          <p:cNvPr id="93" name="Google Shape;93;p14"/>
          <p:cNvSpPr txBox="1"/>
          <p:nvPr/>
        </p:nvSpPr>
        <p:spPr>
          <a:xfrm>
            <a:off x="6334125" y="1850554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Arquitetura</a:t>
            </a:r>
            <a:r>
              <a:rPr lang="en-US" sz="21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100" b="1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em</a:t>
            </a:r>
            <a:r>
              <a:rPr lang="en-US" sz="21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100" b="1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Camadas</a:t>
            </a:r>
            <a:endParaRPr dirty="0"/>
          </a:p>
        </p:txBody>
      </p:sp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6490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1047750" y="2317279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Aplicação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Java/Spring Boot para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gerenciar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produtos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categorias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usuários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96" name="Google Shape;9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174529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1047749" y="3126904"/>
            <a:ext cx="4457699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Objetivo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CRUD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completo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com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regras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negócio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69840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1047750" y="3650779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Foco na separação de entidades, camadas e responsabilidades.</a:t>
            </a:r>
            <a:endParaRPr/>
          </a:p>
        </p:txBody>
      </p:sp>
      <p:pic>
        <p:nvPicPr>
          <p:cNvPr id="100" name="Google Shape;100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5" y="236490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6810375" y="2317279"/>
            <a:ext cx="43434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controller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→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Trata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requisições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HTTP (API REST).</a:t>
            </a:r>
            <a:endParaRPr dirty="0"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34125" y="2888779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6810375" y="2841154"/>
            <a:ext cx="42005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service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→ Contém as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regras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negócio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lógica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334125" y="341265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6810375" y="3365029"/>
            <a:ext cx="44577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repository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→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Comunicação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com o banco de dados.</a:t>
            </a:r>
            <a:endParaRPr dirty="0"/>
          </a:p>
        </p:txBody>
      </p:sp>
      <p:pic>
        <p:nvPicPr>
          <p:cNvPr id="106" name="Google Shape;106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334125" y="3936529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6810375" y="3888904"/>
            <a:ext cx="3524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entity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→ Classes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modelo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entidades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334125" y="446040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6810375" y="4412779"/>
            <a:ext cx="43338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exception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→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Tratamento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erros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personalizados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Visão Geral e </a:t>
            </a:r>
            <a:r>
              <a:rPr lang="en-US" sz="36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Arquitetura</a:t>
            </a:r>
            <a:endParaRPr/>
          </a:p>
        </p:txBody>
      </p:sp>
      <p:pic>
        <p:nvPicPr>
          <p:cNvPr id="7" name="Google Shape;102;p14" descr="image.png">
            <a:extLst>
              <a:ext uri="{FF2B5EF4-FFF2-40B4-BE49-F238E27FC236}">
                <a16:creationId xmlns:a16="http://schemas.microsoft.com/office/drawing/2014/main" id="{654EE04F-6346-E6A4-92F8-BD770CAAD135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26867" y="494255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03;p14">
            <a:extLst>
              <a:ext uri="{FF2B5EF4-FFF2-40B4-BE49-F238E27FC236}">
                <a16:creationId xmlns:a16="http://schemas.microsoft.com/office/drawing/2014/main" id="{2CB4B573-5455-1F75-417F-71B94B6B69D9}"/>
              </a:ext>
            </a:extLst>
          </p:cNvPr>
          <p:cNvSpPr txBox="1"/>
          <p:nvPr/>
        </p:nvSpPr>
        <p:spPr>
          <a:xfrm>
            <a:off x="6803117" y="4894927"/>
            <a:ext cx="4200525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configs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→ </a:t>
            </a:r>
            <a:r>
              <a:rPr lang="en-US" sz="1500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Configuração</a:t>
            </a:r>
            <a:r>
              <a:rPr lang="en-US" sz="1500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segurança</a:t>
            </a:r>
            <a:r>
              <a:rPr lang="en-US" sz="1500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3919537" y="2585144"/>
            <a:ext cx="435292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Gabriel Carlos Rezende Nazario</a:t>
            </a:r>
            <a:endParaRPr dirty="0"/>
          </a:p>
        </p:txBody>
      </p:sp>
      <p:sp>
        <p:nvSpPr>
          <p:cNvPr id="117" name="Google Shape;117;p15"/>
          <p:cNvSpPr/>
          <p:nvPr/>
        </p:nvSpPr>
        <p:spPr>
          <a:xfrm>
            <a:off x="3919537" y="3137594"/>
            <a:ext cx="43529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3919537" y="3385244"/>
            <a:ext cx="435292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Rodrigo Vieira Fagundes</a:t>
            </a:r>
            <a:endParaRPr dirty="0"/>
          </a:p>
        </p:txBody>
      </p:sp>
      <p:sp>
        <p:nvSpPr>
          <p:cNvPr id="119" name="Google Shape;119;p15"/>
          <p:cNvSpPr/>
          <p:nvPr/>
        </p:nvSpPr>
        <p:spPr>
          <a:xfrm>
            <a:off x="3919537" y="3937694"/>
            <a:ext cx="43529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3919537" y="4185344"/>
            <a:ext cx="435292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João Marcos Da Silva Braz</a:t>
            </a:r>
            <a:endParaRPr dirty="0"/>
          </a:p>
        </p:txBody>
      </p:sp>
      <p:sp>
        <p:nvSpPr>
          <p:cNvPr id="121" name="Google Shape;121;p15"/>
          <p:cNvSpPr/>
          <p:nvPr/>
        </p:nvSpPr>
        <p:spPr>
          <a:xfrm>
            <a:off x="3919537" y="4737794"/>
            <a:ext cx="43529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3919537" y="4985444"/>
            <a:ext cx="4352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Luana Alexandre da Silva</a:t>
            </a:r>
            <a:endParaRPr dirty="0"/>
          </a:p>
        </p:txBody>
      </p:sp>
      <p:sp>
        <p:nvSpPr>
          <p:cNvPr id="123" name="Google Shape;123;p15"/>
          <p:cNvSpPr/>
          <p:nvPr/>
        </p:nvSpPr>
        <p:spPr>
          <a:xfrm>
            <a:off x="3919537" y="3137594"/>
            <a:ext cx="43529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/>
          <p:nvPr/>
        </p:nvSpPr>
        <p:spPr>
          <a:xfrm>
            <a:off x="3919537" y="3937694"/>
            <a:ext cx="43529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/>
          <p:nvPr/>
        </p:nvSpPr>
        <p:spPr>
          <a:xfrm>
            <a:off x="3919537" y="4737794"/>
            <a:ext cx="43529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 </a:t>
            </a:r>
            <a:r>
              <a:rPr lang="en-US" sz="36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Equipe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71950" y="2728019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4648200" y="2680394"/>
            <a:ext cx="30384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Java (21)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(Linguagem de Backend)</a:t>
            </a:r>
            <a:endParaRPr/>
          </a:p>
        </p:txBody>
      </p:sp>
      <p:pic>
        <p:nvPicPr>
          <p:cNvPr id="134" name="Google Shape;13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71950" y="325189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4648200" y="3204269"/>
            <a:ext cx="22002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Spring Boot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(Framework)</a:t>
            </a:r>
            <a:endParaRPr/>
          </a:p>
        </p:txBody>
      </p:sp>
      <p:pic>
        <p:nvPicPr>
          <p:cNvPr id="136" name="Google Shape;136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171950" y="3775769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 txBox="1"/>
          <p:nvPr/>
        </p:nvSpPr>
        <p:spPr>
          <a:xfrm>
            <a:off x="4648200" y="3728144"/>
            <a:ext cx="2647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Spring Data JPA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(Persistência)</a:t>
            </a:r>
            <a:endParaRPr/>
          </a:p>
        </p:txBody>
      </p:sp>
      <p:pic>
        <p:nvPicPr>
          <p:cNvPr id="138" name="Google Shape;138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171950" y="429964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6"/>
          <p:cNvSpPr txBox="1"/>
          <p:nvPr/>
        </p:nvSpPr>
        <p:spPr>
          <a:xfrm>
            <a:off x="4648200" y="4252019"/>
            <a:ext cx="3371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MySQL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(Banco de Dados de Produção)</a:t>
            </a:r>
            <a:endParaRPr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171950" y="4823519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4648200" y="4775894"/>
            <a:ext cx="2762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H2 Database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(Banco de Testes)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Tecnologias </a:t>
            </a:r>
            <a:r>
              <a:rPr lang="en-US" sz="36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Principais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47019"/>
            <a:ext cx="5286375" cy="347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47019"/>
            <a:ext cx="5286375" cy="3476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 txBox="1"/>
          <p:nvPr/>
        </p:nvSpPr>
        <p:spPr>
          <a:xfrm>
            <a:off x="962025" y="2966144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Categoria</a:t>
            </a:r>
            <a:endParaRPr dirty="0"/>
          </a:p>
        </p:txBody>
      </p:sp>
      <p:sp>
        <p:nvSpPr>
          <p:cNvPr id="151" name="Google Shape;151;p17"/>
          <p:cNvSpPr txBox="1"/>
          <p:nvPr/>
        </p:nvSpPr>
        <p:spPr>
          <a:xfrm>
            <a:off x="6724650" y="2966144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Produto</a:t>
            </a:r>
            <a:endParaRPr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976539" y="3244187"/>
            <a:ext cx="4505325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Cadastrar nova categoria (Requer ADMIN)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Listar todas as categorias (COMUM e ADMIN)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Buscar categoria por ID (COMUM e ADMIN)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Atualizar categoria existente (Requer ADMIN)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Excluir categoria (Requer ADMIN)</a:t>
            </a:r>
          </a:p>
        </p:txBody>
      </p:sp>
      <p:sp>
        <p:nvSpPr>
          <p:cNvPr id="157" name="Google Shape;157;p17"/>
          <p:cNvSpPr txBox="1"/>
          <p:nvPr/>
        </p:nvSpPr>
        <p:spPr>
          <a:xfrm>
            <a:off x="6724650" y="3186127"/>
            <a:ext cx="4505325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Cadastrar novo produto (Requer ADMIN) 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Listar todos os produtos (COMUM e ADMIN)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Buscar produto por ID (COMUM e ADMIN) 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Atualizar produto existente (Requer ADMIN)</a:t>
            </a:r>
          </a:p>
          <a:p>
            <a:pPr lvl="2">
              <a:lnSpc>
                <a:spcPct val="20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Excluir produto (Requer ADMIN)</a:t>
            </a:r>
          </a:p>
        </p:txBody>
      </p:sp>
      <p:sp>
        <p:nvSpPr>
          <p:cNvPr id="162" name="Google Shape;162;p17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Principais </a:t>
            </a:r>
            <a:r>
              <a:rPr lang="en-US" sz="36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Funcionalidades</a:t>
            </a: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(CRUD)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46">
          <a:extLst>
            <a:ext uri="{FF2B5EF4-FFF2-40B4-BE49-F238E27FC236}">
              <a16:creationId xmlns:a16="http://schemas.microsoft.com/office/drawing/2014/main" id="{CFA8A752-9F12-55C0-8E5A-34BEFFD77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7" descr="image.png">
            <a:extLst>
              <a:ext uri="{FF2B5EF4-FFF2-40B4-BE49-F238E27FC236}">
                <a16:creationId xmlns:a16="http://schemas.microsoft.com/office/drawing/2014/main" id="{EFCF1A54-D800-E15E-EE86-F23F9D816F7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>
            <a:extLst>
              <a:ext uri="{FF2B5EF4-FFF2-40B4-BE49-F238E27FC236}">
                <a16:creationId xmlns:a16="http://schemas.microsoft.com/office/drawing/2014/main" id="{9048D9DD-5EDA-6994-401C-B7179C3F7B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88493" y="2216390"/>
            <a:ext cx="5815013" cy="3476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FD28427D-F641-517F-CEF6-130373A8B4A4}"/>
              </a:ext>
            </a:extLst>
          </p:cNvPr>
          <p:cNvSpPr txBox="1"/>
          <p:nvPr/>
        </p:nvSpPr>
        <p:spPr>
          <a:xfrm>
            <a:off x="3188493" y="2844801"/>
            <a:ext cx="581501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Usuário</a:t>
            </a:r>
            <a:endParaRPr dirty="0"/>
          </a:p>
        </p:txBody>
      </p:sp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948BD7DC-33DD-0A85-404F-16E1676442E3}"/>
              </a:ext>
            </a:extLst>
          </p:cNvPr>
          <p:cNvSpPr txBox="1"/>
          <p:nvPr/>
        </p:nvSpPr>
        <p:spPr>
          <a:xfrm>
            <a:off x="3632584" y="3113558"/>
            <a:ext cx="4955858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2" algn="ctr">
              <a:lnSpc>
                <a:spcPct val="15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Cadastrar novo usuário com senha criptografada </a:t>
            </a:r>
            <a:r>
              <a:rPr lang="pt-BR" b="1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(ADMIN)</a:t>
            </a:r>
            <a:endParaRPr lang="pt-BR" dirty="0">
              <a:solidFill>
                <a:schemeClr val="bg1">
                  <a:lumMod val="85000"/>
                </a:schemeClr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2" algn="ctr">
              <a:lnSpc>
                <a:spcPct val="15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Listar todos os usuários </a:t>
            </a:r>
            <a:r>
              <a:rPr lang="pt-BR" b="1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(Requer ADMIN)</a:t>
            </a:r>
            <a:endParaRPr lang="pt-BR" dirty="0">
              <a:solidFill>
                <a:schemeClr val="bg1">
                  <a:lumMod val="85000"/>
                </a:schemeClr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2" algn="ctr">
              <a:lnSpc>
                <a:spcPct val="15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Buscar usuário por ID </a:t>
            </a:r>
            <a:r>
              <a:rPr lang="pt-BR" b="1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(Requer ADMIN)</a:t>
            </a:r>
            <a:endParaRPr lang="pt-BR" dirty="0">
              <a:solidFill>
                <a:schemeClr val="bg1">
                  <a:lumMod val="85000"/>
                </a:schemeClr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2" algn="ctr">
              <a:lnSpc>
                <a:spcPct val="15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Buscar dados do próprio usuário </a:t>
            </a:r>
            <a:r>
              <a:rPr lang="pt-BR" b="1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(COMUM e ADMIN)</a:t>
            </a:r>
            <a:endParaRPr lang="pt-BR" dirty="0">
              <a:solidFill>
                <a:schemeClr val="bg1">
                  <a:lumMod val="85000"/>
                </a:schemeClr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2" algn="ctr">
              <a:lnSpc>
                <a:spcPct val="15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Atualizar usuário existente </a:t>
            </a:r>
            <a:r>
              <a:rPr lang="pt-BR" b="1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(Requer ADMIN)</a:t>
            </a:r>
            <a:endParaRPr lang="pt-BR" dirty="0">
              <a:solidFill>
                <a:schemeClr val="bg1">
                  <a:lumMod val="85000"/>
                </a:schemeClr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2" algn="ctr">
              <a:lnSpc>
                <a:spcPct val="150000"/>
              </a:lnSpc>
            </a:pPr>
            <a:r>
              <a:rPr lang="pt-BR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Excluir usuário </a:t>
            </a:r>
            <a:r>
              <a:rPr lang="pt-BR" b="1" dirty="0">
                <a:solidFill>
                  <a:schemeClr val="bg1">
                    <a:lumMod val="85000"/>
                  </a:schemeClr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(Requer ADMIN)</a:t>
            </a:r>
            <a:endParaRPr lang="pt-BR" dirty="0">
              <a:solidFill>
                <a:schemeClr val="bg1">
                  <a:lumMod val="85000"/>
                </a:schemeClr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62" name="Google Shape;162;p17">
            <a:extLst>
              <a:ext uri="{FF2B5EF4-FFF2-40B4-BE49-F238E27FC236}">
                <a16:creationId xmlns:a16="http://schemas.microsoft.com/office/drawing/2014/main" id="{ACD83AB7-E3E9-3C3C-B1CC-A9B4DD2BF311}"/>
              </a:ext>
            </a:extLst>
          </p:cNvPr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Principais</a:t>
            </a: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600" b="1" i="0" u="none" strike="noStrike" cap="none" dirty="0" err="1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Funcionalidades</a:t>
            </a: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(CRUD)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0915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9"/>
          <p:cNvSpPr txBox="1"/>
          <p:nvPr/>
        </p:nvSpPr>
        <p:spPr>
          <a:xfrm>
            <a:off x="571500" y="2761357"/>
            <a:ext cx="116014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Relacionamentos do Modelo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571500" y="4799707"/>
            <a:ext cx="11049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modelo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é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composto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pelas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entidades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Usuario, Perfil, Categoria e Produto. Usuario e Perfil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usam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um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relacionamento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N:N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muitos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muitos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enquanto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Categoria e Produto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usam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um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relacionamento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1:N (um para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muitos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pic>
        <p:nvPicPr>
          <p:cNvPr id="180" name="Google Shape;18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75707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9"/>
          <p:cNvSpPr txBox="1"/>
          <p:nvPr/>
        </p:nvSpPr>
        <p:spPr>
          <a:xfrm>
            <a:off x="1047750" y="3228082"/>
            <a:ext cx="2752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Usuario (1,n)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possui </a:t>
            </a: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(1,n) Perfil</a:t>
            </a:r>
            <a:endParaRPr dirty="0"/>
          </a:p>
        </p:txBody>
      </p:sp>
      <p:pic>
        <p:nvPicPr>
          <p:cNvPr id="182" name="Google Shape;182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79958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1047750" y="3751957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Perfil (1,n)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opera </a:t>
            </a: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(1,n) Categoria</a:t>
            </a:r>
            <a:endParaRPr dirty="0"/>
          </a:p>
        </p:txBody>
      </p:sp>
      <p:pic>
        <p:nvPicPr>
          <p:cNvPr id="184" name="Google Shape;184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323457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9"/>
          <p:cNvSpPr txBox="1"/>
          <p:nvPr/>
        </p:nvSpPr>
        <p:spPr>
          <a:xfrm>
            <a:off x="1047750" y="4275832"/>
            <a:ext cx="32670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Categoria (1,1)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contém </a:t>
            </a:r>
            <a:r>
              <a:rPr lang="en-US" sz="15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(1,n) Produto</a:t>
            </a:r>
            <a:endParaRPr dirty="0"/>
          </a:p>
        </p:txBody>
      </p:sp>
      <p:sp>
        <p:nvSpPr>
          <p:cNvPr id="186" name="Google Shape;186;p19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Modelo </a:t>
            </a:r>
            <a:r>
              <a:rPr lang="en-US" sz="36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Relacional</a:t>
            </a: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(DER)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76">
          <a:extLst>
            <a:ext uri="{FF2B5EF4-FFF2-40B4-BE49-F238E27FC236}">
              <a16:creationId xmlns:a16="http://schemas.microsoft.com/office/drawing/2014/main" id="{F052A1CB-D8E7-A301-CAA2-452A1BC7C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19" descr="image.png">
            <a:extLst>
              <a:ext uri="{FF2B5EF4-FFF2-40B4-BE49-F238E27FC236}">
                <a16:creationId xmlns:a16="http://schemas.microsoft.com/office/drawing/2014/main" id="{392A8568-C1A4-FC56-37B2-BF3CE17A16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>
            <a:extLst>
              <a:ext uri="{FF2B5EF4-FFF2-40B4-BE49-F238E27FC236}">
                <a16:creationId xmlns:a16="http://schemas.microsoft.com/office/drawing/2014/main" id="{878A77CB-6E2B-B7D6-0E24-DF103828D502}"/>
              </a:ext>
            </a:extLst>
          </p:cNvPr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Modelo Conceitual</a:t>
            </a:r>
            <a:endParaRPr dirty="0"/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DDE73043-A2D0-9E96-4E29-85D1F5C9E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771856"/>
            <a:ext cx="11127014" cy="408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20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76">
          <a:extLst>
            <a:ext uri="{FF2B5EF4-FFF2-40B4-BE49-F238E27FC236}">
              <a16:creationId xmlns:a16="http://schemas.microsoft.com/office/drawing/2014/main" id="{93A77FBF-D98B-97F7-74A2-5F962F3B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19" descr="image.png">
            <a:extLst>
              <a:ext uri="{FF2B5EF4-FFF2-40B4-BE49-F238E27FC236}">
                <a16:creationId xmlns:a16="http://schemas.microsoft.com/office/drawing/2014/main" id="{5EA9EA9E-4000-9C33-C2C1-18B875E1E1A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>
            <a:extLst>
              <a:ext uri="{FF2B5EF4-FFF2-40B4-BE49-F238E27FC236}">
                <a16:creationId xmlns:a16="http://schemas.microsoft.com/office/drawing/2014/main" id="{FD35BDA5-84C3-F1CC-7AE6-E4B6012D1FE3}"/>
              </a:ext>
            </a:extLst>
          </p:cNvPr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Modelo Lógico</a:t>
            </a:r>
            <a:endParaRPr dirty="0"/>
          </a:p>
        </p:txBody>
      </p:sp>
      <p:pic>
        <p:nvPicPr>
          <p:cNvPr id="3" name="Imagem 2" descr="Diagrama&#10;&#10;O conteúdo gerado por IA pode estar incorreto.">
            <a:extLst>
              <a:ext uri="{FF2B5EF4-FFF2-40B4-BE49-F238E27FC236}">
                <a16:creationId xmlns:a16="http://schemas.microsoft.com/office/drawing/2014/main" id="{0B6C648B-6A09-8C80-7900-AC38AB1DB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3407" y="1704495"/>
            <a:ext cx="7745186" cy="4202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19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2" name="Google Shape;192;p20"/>
          <p:cNvGraphicFramePr/>
          <p:nvPr>
            <p:extLst>
              <p:ext uri="{D42A27DB-BD31-4B8C-83A1-F6EECF244321}">
                <p14:modId xmlns:p14="http://schemas.microsoft.com/office/powerpoint/2010/main" val="1051038376"/>
              </p:ext>
            </p:extLst>
          </p:nvPr>
        </p:nvGraphicFramePr>
        <p:xfrm>
          <a:off x="571500" y="2494657"/>
          <a:ext cx="11049000" cy="3181375"/>
        </p:xfrm>
        <a:graphic>
          <a:graphicData uri="http://schemas.openxmlformats.org/drawingml/2006/table">
            <a:tbl>
              <a:tblPr firstRow="1" bandRow="1">
                <a:noFill/>
                <a:tableStyleId>{95270845-8E29-47A4-926C-3CECF97C9C3A}</a:tableStyleId>
              </a:tblPr>
              <a:tblGrid>
                <a:gridCol w="189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2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0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8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Campo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Tipo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Chave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Descrição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INTEGER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Identificador único do usuário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VARCHAR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 do usuário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email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VARCHAR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Email de login (único)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senha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VARCHAR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Senha criptografada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3" name="Google Shape;193;p20"/>
          <p:cNvSpPr/>
          <p:nvPr/>
        </p:nvSpPr>
        <p:spPr>
          <a:xfrm>
            <a:off x="571500" y="3118544"/>
            <a:ext cx="18969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2468463" y="3118544"/>
            <a:ext cx="226293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4731394" y="3118544"/>
            <a:ext cx="178043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6511825" y="3118544"/>
            <a:ext cx="510867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571500" y="3756719"/>
            <a:ext cx="18969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2468463" y="3756719"/>
            <a:ext cx="226293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0"/>
          <p:cNvSpPr/>
          <p:nvPr/>
        </p:nvSpPr>
        <p:spPr>
          <a:xfrm>
            <a:off x="4731394" y="3756719"/>
            <a:ext cx="178043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/>
          <p:nvPr/>
        </p:nvSpPr>
        <p:spPr>
          <a:xfrm>
            <a:off x="6511825" y="3756719"/>
            <a:ext cx="510867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571500" y="4394894"/>
            <a:ext cx="18969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2468463" y="4394894"/>
            <a:ext cx="226293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731394" y="4394894"/>
            <a:ext cx="178043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6511825" y="4394894"/>
            <a:ext cx="510867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/>
          <p:nvPr/>
        </p:nvSpPr>
        <p:spPr>
          <a:xfrm>
            <a:off x="571500" y="5033069"/>
            <a:ext cx="18969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/>
          <p:nvPr/>
        </p:nvSpPr>
        <p:spPr>
          <a:xfrm>
            <a:off x="2468463" y="5033069"/>
            <a:ext cx="226293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/>
          <p:nvPr/>
        </p:nvSpPr>
        <p:spPr>
          <a:xfrm>
            <a:off x="4731394" y="5033069"/>
            <a:ext cx="178043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0"/>
          <p:cNvSpPr/>
          <p:nvPr/>
        </p:nvSpPr>
        <p:spPr>
          <a:xfrm>
            <a:off x="6511825" y="5033069"/>
            <a:ext cx="510867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0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Entidade: </a:t>
            </a:r>
            <a:r>
              <a:rPr lang="en-US" sz="36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Usuario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5" name="Google Shape;215;p21"/>
          <p:cNvGraphicFramePr/>
          <p:nvPr>
            <p:extLst>
              <p:ext uri="{D42A27DB-BD31-4B8C-83A1-F6EECF244321}">
                <p14:modId xmlns:p14="http://schemas.microsoft.com/office/powerpoint/2010/main" val="2590657522"/>
              </p:ext>
            </p:extLst>
          </p:nvPr>
        </p:nvGraphicFramePr>
        <p:xfrm>
          <a:off x="571500" y="3132832"/>
          <a:ext cx="11049000" cy="1905000"/>
        </p:xfrm>
        <a:graphic>
          <a:graphicData uri="http://schemas.openxmlformats.org/drawingml/2006/table">
            <a:tbl>
              <a:tblPr firstRow="1" bandRow="1">
                <a:noFill/>
                <a:tableStyleId>{95270845-8E29-47A4-926C-3CECF97C9C3A}</a:tableStyleId>
              </a:tblPr>
              <a:tblGrid>
                <a:gridCol w="179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Campo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Tipo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Chave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Descrição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INTEGER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PK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Identificador único do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perfil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VARCHAR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 do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perfil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(ADMIN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ou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COMUM)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6" name="Google Shape;216;p21"/>
          <p:cNvSpPr/>
          <p:nvPr/>
        </p:nvSpPr>
        <p:spPr>
          <a:xfrm>
            <a:off x="571500" y="3756719"/>
            <a:ext cx="17968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368301" y="3756719"/>
            <a:ext cx="214357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511873" y="3756719"/>
            <a:ext cx="168637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6198244" y="3756719"/>
            <a:ext cx="542225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571500" y="4394894"/>
            <a:ext cx="17968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2368301" y="4394894"/>
            <a:ext cx="214357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/>
          <p:nvPr/>
        </p:nvSpPr>
        <p:spPr>
          <a:xfrm>
            <a:off x="4511873" y="4394894"/>
            <a:ext cx="168637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1"/>
          <p:cNvSpPr/>
          <p:nvPr/>
        </p:nvSpPr>
        <p:spPr>
          <a:xfrm>
            <a:off x="6198244" y="4394894"/>
            <a:ext cx="542225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Entidade: </a:t>
            </a:r>
            <a:r>
              <a:rPr lang="en-US" sz="36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Perfil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0" name="Google Shape;230;p22"/>
          <p:cNvGraphicFramePr/>
          <p:nvPr>
            <p:extLst>
              <p:ext uri="{D42A27DB-BD31-4B8C-83A1-F6EECF244321}">
                <p14:modId xmlns:p14="http://schemas.microsoft.com/office/powerpoint/2010/main" val="805784084"/>
              </p:ext>
            </p:extLst>
          </p:nvPr>
        </p:nvGraphicFramePr>
        <p:xfrm>
          <a:off x="571500" y="3132832"/>
          <a:ext cx="11049000" cy="1905000"/>
        </p:xfrm>
        <a:graphic>
          <a:graphicData uri="http://schemas.openxmlformats.org/drawingml/2006/table">
            <a:tbl>
              <a:tblPr firstRow="1" bandRow="1">
                <a:noFill/>
                <a:tableStyleId>{95270845-8E29-47A4-926C-3CECF97C9C3A}</a:tableStyleId>
              </a:tblPr>
              <a:tblGrid>
                <a:gridCol w="1586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8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1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Campo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Tipo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Chave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Descrição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INTEGER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Identificador único da categoria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VARCHAR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 da categoria (ex: Eletrônicos, Roupas)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1" name="Google Shape;231;p22"/>
          <p:cNvSpPr/>
          <p:nvPr/>
        </p:nvSpPr>
        <p:spPr>
          <a:xfrm>
            <a:off x="571500" y="3756719"/>
            <a:ext cx="158635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2157858" y="3756719"/>
            <a:ext cx="189249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4050357" y="3756719"/>
            <a:ext cx="148887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/>
          <p:nvPr/>
        </p:nvSpPr>
        <p:spPr>
          <a:xfrm>
            <a:off x="5539233" y="3756719"/>
            <a:ext cx="608126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571500" y="4394894"/>
            <a:ext cx="158635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2157858" y="4394894"/>
            <a:ext cx="189249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/>
          <p:nvPr/>
        </p:nvSpPr>
        <p:spPr>
          <a:xfrm>
            <a:off x="4050357" y="4394894"/>
            <a:ext cx="148887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2"/>
          <p:cNvSpPr/>
          <p:nvPr/>
        </p:nvSpPr>
        <p:spPr>
          <a:xfrm>
            <a:off x="5539233" y="4394894"/>
            <a:ext cx="608126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2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Entidade: </a:t>
            </a:r>
            <a:r>
              <a:rPr lang="en-US" sz="36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Categoria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45" name="Google Shape;245;p23"/>
          <p:cNvGraphicFramePr/>
          <p:nvPr>
            <p:extLst>
              <p:ext uri="{D42A27DB-BD31-4B8C-83A1-F6EECF244321}">
                <p14:modId xmlns:p14="http://schemas.microsoft.com/office/powerpoint/2010/main" val="3664301992"/>
              </p:ext>
            </p:extLst>
          </p:nvPr>
        </p:nvGraphicFramePr>
        <p:xfrm>
          <a:off x="571500" y="2494657"/>
          <a:ext cx="11049000" cy="3181375"/>
        </p:xfrm>
        <a:graphic>
          <a:graphicData uri="http://schemas.openxmlformats.org/drawingml/2006/table">
            <a:tbl>
              <a:tblPr firstRow="1" bandRow="1">
                <a:noFill/>
                <a:tableStyleId>{95270845-8E29-47A4-926C-3CECF97C9C3A}</a:tableStyleId>
              </a:tblPr>
              <a:tblGrid>
                <a:gridCol w="182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0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65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Campo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Tipo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Chave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Descrição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INTEGER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Identificador único do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VARCHAR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Nome do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(ex: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Celular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, Camisa)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DECIMAL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-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Preço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do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categoria_id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INTEGER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FK → Categoria (id)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Identifica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a categoria a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que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o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pertence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6" name="Google Shape;246;p23"/>
          <p:cNvSpPr/>
          <p:nvPr/>
        </p:nvSpPr>
        <p:spPr>
          <a:xfrm>
            <a:off x="571500" y="3118544"/>
            <a:ext cx="182269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2394198" y="3118544"/>
            <a:ext cx="15301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3924300" y="3118544"/>
            <a:ext cx="243021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6354514" y="3118544"/>
            <a:ext cx="526598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571500" y="3756719"/>
            <a:ext cx="182269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2394198" y="3756719"/>
            <a:ext cx="15301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3"/>
          <p:cNvSpPr/>
          <p:nvPr/>
        </p:nvSpPr>
        <p:spPr>
          <a:xfrm>
            <a:off x="3924300" y="3756719"/>
            <a:ext cx="243021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3"/>
          <p:cNvSpPr/>
          <p:nvPr/>
        </p:nvSpPr>
        <p:spPr>
          <a:xfrm>
            <a:off x="6354514" y="3756719"/>
            <a:ext cx="526598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3"/>
          <p:cNvSpPr/>
          <p:nvPr/>
        </p:nvSpPr>
        <p:spPr>
          <a:xfrm>
            <a:off x="571500" y="4394894"/>
            <a:ext cx="182269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3"/>
          <p:cNvSpPr/>
          <p:nvPr/>
        </p:nvSpPr>
        <p:spPr>
          <a:xfrm>
            <a:off x="2394198" y="4394894"/>
            <a:ext cx="15301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3"/>
          <p:cNvSpPr/>
          <p:nvPr/>
        </p:nvSpPr>
        <p:spPr>
          <a:xfrm>
            <a:off x="3924300" y="4394894"/>
            <a:ext cx="243021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3"/>
          <p:cNvSpPr/>
          <p:nvPr/>
        </p:nvSpPr>
        <p:spPr>
          <a:xfrm>
            <a:off x="6354514" y="4394894"/>
            <a:ext cx="526598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3"/>
          <p:cNvSpPr/>
          <p:nvPr/>
        </p:nvSpPr>
        <p:spPr>
          <a:xfrm>
            <a:off x="571500" y="5033069"/>
            <a:ext cx="182269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/>
          <p:nvPr/>
        </p:nvSpPr>
        <p:spPr>
          <a:xfrm>
            <a:off x="2394198" y="5033069"/>
            <a:ext cx="15301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3"/>
          <p:cNvSpPr/>
          <p:nvPr/>
        </p:nvSpPr>
        <p:spPr>
          <a:xfrm>
            <a:off x="3924300" y="5033069"/>
            <a:ext cx="243021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6354514" y="5033069"/>
            <a:ext cx="526598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3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Entidade: </a:t>
            </a:r>
            <a:r>
              <a:rPr lang="en-US" sz="36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Produto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18432"/>
            <a:ext cx="5286375" cy="3733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18432"/>
            <a:ext cx="5286375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4"/>
          <p:cNvSpPr txBox="1"/>
          <p:nvPr/>
        </p:nvSpPr>
        <p:spPr>
          <a:xfrm>
            <a:off x="962025" y="2837557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Framework e Entidades</a:t>
            </a:r>
            <a:endParaRPr/>
          </a:p>
        </p:txBody>
      </p:sp>
      <p:sp>
        <p:nvSpPr>
          <p:cNvPr id="271" name="Google Shape;271;p24"/>
          <p:cNvSpPr txBox="1"/>
          <p:nvPr/>
        </p:nvSpPr>
        <p:spPr>
          <a:xfrm>
            <a:off x="6724650" y="2837557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Regras de Acesso (Perfis)</a:t>
            </a:r>
            <a:endParaRPr/>
          </a:p>
        </p:txBody>
      </p:sp>
      <p:pic>
        <p:nvPicPr>
          <p:cNvPr id="272" name="Google Shape;272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3351907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4"/>
          <p:cNvSpPr txBox="1"/>
          <p:nvPr/>
        </p:nvSpPr>
        <p:spPr>
          <a:xfrm>
            <a:off x="1438275" y="3304282"/>
            <a:ext cx="40290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Utiliza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o Spring Security para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autenticação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autorização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274" name="Google Shape;274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" y="410438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4"/>
          <p:cNvSpPr txBox="1"/>
          <p:nvPr/>
        </p:nvSpPr>
        <p:spPr>
          <a:xfrm>
            <a:off x="1438275" y="4056757"/>
            <a:ext cx="40290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segurança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é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baseada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nas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entidades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Usuario e Perfil.</a:t>
            </a:r>
            <a:endParaRPr dirty="0"/>
          </a:p>
        </p:txBody>
      </p:sp>
      <p:pic>
        <p:nvPicPr>
          <p:cNvPr id="276" name="Google Shape;276;p2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2025" y="4856857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4"/>
          <p:cNvSpPr txBox="1"/>
          <p:nvPr/>
        </p:nvSpPr>
        <p:spPr>
          <a:xfrm>
            <a:off x="1438275" y="4809232"/>
            <a:ext cx="40290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senha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do Usuario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deve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ser criptografada (ex: com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BCrypt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pic>
        <p:nvPicPr>
          <p:cNvPr id="278" name="Google Shape;278;p2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24650" y="3351907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4"/>
          <p:cNvSpPr txBox="1"/>
          <p:nvPr/>
        </p:nvSpPr>
        <p:spPr>
          <a:xfrm>
            <a:off x="7200900" y="3304282"/>
            <a:ext cx="1181695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Perfil COMUM</a:t>
            </a:r>
            <a:endParaRPr dirty="0"/>
          </a:p>
        </p:txBody>
      </p:sp>
      <p:sp>
        <p:nvSpPr>
          <p:cNvPr id="280" name="Google Shape;280;p24"/>
          <p:cNvSpPr txBox="1"/>
          <p:nvPr/>
        </p:nvSpPr>
        <p:spPr>
          <a:xfrm>
            <a:off x="8490857" y="3304282"/>
            <a:ext cx="2739117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Acesso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leitura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pode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listar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buscar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produtos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categorias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(GET).</a:t>
            </a:r>
            <a:endParaRPr dirty="0"/>
          </a:p>
        </p:txBody>
      </p:sp>
      <p:pic>
        <p:nvPicPr>
          <p:cNvPr id="281" name="Google Shape;281;p2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724650" y="410438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4"/>
          <p:cNvSpPr txBox="1"/>
          <p:nvPr/>
        </p:nvSpPr>
        <p:spPr>
          <a:xfrm>
            <a:off x="7200900" y="4056757"/>
            <a:ext cx="1289957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Perfil </a:t>
            </a:r>
            <a:r>
              <a:rPr lang="en-US" sz="1350" b="1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ADMIN</a:t>
            </a:r>
            <a:endParaRPr dirty="0"/>
          </a:p>
        </p:txBody>
      </p:sp>
      <p:sp>
        <p:nvSpPr>
          <p:cNvPr id="283" name="Google Shape;283;p24"/>
          <p:cNvSpPr txBox="1"/>
          <p:nvPr/>
        </p:nvSpPr>
        <p:spPr>
          <a:xfrm>
            <a:off x="8490857" y="4056757"/>
            <a:ext cx="2739117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Acesso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total (CRUD):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criar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atualizar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excluir</a:t>
            </a:r>
            <a:r>
              <a:rPr lang="en-US" sz="1350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produtos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/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categorias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(POST, PUT, DELETE),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além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acesso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GET.</a:t>
            </a:r>
            <a:endParaRPr dirty="0"/>
          </a:p>
        </p:txBody>
      </p:sp>
      <p:sp>
        <p:nvSpPr>
          <p:cNvPr id="284" name="Google Shape;284;p24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Segurança e </a:t>
            </a:r>
            <a:r>
              <a:rPr lang="en-US" sz="36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Autorização</a:t>
            </a: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(Spring Security)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90" name="Google Shape;290;p25"/>
          <p:cNvGraphicFramePr/>
          <p:nvPr>
            <p:extLst>
              <p:ext uri="{D42A27DB-BD31-4B8C-83A1-F6EECF244321}">
                <p14:modId xmlns:p14="http://schemas.microsoft.com/office/powerpoint/2010/main" val="2659603149"/>
              </p:ext>
            </p:extLst>
          </p:nvPr>
        </p:nvGraphicFramePr>
        <p:xfrm>
          <a:off x="571500" y="2175569"/>
          <a:ext cx="11049000" cy="3819475"/>
        </p:xfrm>
        <a:graphic>
          <a:graphicData uri="http://schemas.openxmlformats.org/drawingml/2006/table">
            <a:tbl>
              <a:tblPr firstRow="1" bandRow="1">
                <a:noFill/>
                <a:tableStyleId>{95270845-8E29-47A4-926C-3CECF97C9C3A}</a:tableStyleId>
              </a:tblPr>
              <a:tblGrid>
                <a:gridCol w="1544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8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1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Método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Endpoint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Descrição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Requer</a:t>
                      </a:r>
                      <a:r>
                        <a:rPr lang="en-US" sz="1500" b="1" i="0" u="none" strike="noStrike" cap="none" dirty="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Perfil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categorias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Lista todas as categorias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COMUM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ou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ADMIN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/categorias/{id}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Retorna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uma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categoria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específica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COMUM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ou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ADMIN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POST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/categorias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Cadastra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uma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nova categoria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PUT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/categorias/{id}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Atualiza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uma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categoria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existente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DELETE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/categorias/{id}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Exclui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uma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categoria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25"/>
          <p:cNvSpPr/>
          <p:nvPr/>
        </p:nvSpPr>
        <p:spPr>
          <a:xfrm>
            <a:off x="571500" y="2799457"/>
            <a:ext cx="154468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5"/>
          <p:cNvSpPr/>
          <p:nvPr/>
        </p:nvSpPr>
        <p:spPr>
          <a:xfrm>
            <a:off x="2116187" y="2799457"/>
            <a:ext cx="247411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5"/>
          <p:cNvSpPr/>
          <p:nvPr/>
        </p:nvSpPr>
        <p:spPr>
          <a:xfrm>
            <a:off x="4590305" y="2799457"/>
            <a:ext cx="45687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5"/>
          <p:cNvSpPr/>
          <p:nvPr/>
        </p:nvSpPr>
        <p:spPr>
          <a:xfrm>
            <a:off x="9159031" y="2799457"/>
            <a:ext cx="24614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5"/>
          <p:cNvSpPr/>
          <p:nvPr/>
        </p:nvSpPr>
        <p:spPr>
          <a:xfrm>
            <a:off x="571500" y="3437632"/>
            <a:ext cx="154468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5"/>
          <p:cNvSpPr/>
          <p:nvPr/>
        </p:nvSpPr>
        <p:spPr>
          <a:xfrm>
            <a:off x="2116187" y="3437632"/>
            <a:ext cx="247411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5"/>
          <p:cNvSpPr/>
          <p:nvPr/>
        </p:nvSpPr>
        <p:spPr>
          <a:xfrm>
            <a:off x="4590305" y="3437632"/>
            <a:ext cx="45687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5"/>
          <p:cNvSpPr/>
          <p:nvPr/>
        </p:nvSpPr>
        <p:spPr>
          <a:xfrm>
            <a:off x="9159031" y="3437632"/>
            <a:ext cx="24614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5"/>
          <p:cNvSpPr/>
          <p:nvPr/>
        </p:nvSpPr>
        <p:spPr>
          <a:xfrm>
            <a:off x="571500" y="4075807"/>
            <a:ext cx="154468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5"/>
          <p:cNvSpPr/>
          <p:nvPr/>
        </p:nvSpPr>
        <p:spPr>
          <a:xfrm>
            <a:off x="2116187" y="4075807"/>
            <a:ext cx="247411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5"/>
          <p:cNvSpPr/>
          <p:nvPr/>
        </p:nvSpPr>
        <p:spPr>
          <a:xfrm>
            <a:off x="4590305" y="4075807"/>
            <a:ext cx="45687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5"/>
          <p:cNvSpPr/>
          <p:nvPr/>
        </p:nvSpPr>
        <p:spPr>
          <a:xfrm>
            <a:off x="9159031" y="4075807"/>
            <a:ext cx="24614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5"/>
          <p:cNvSpPr/>
          <p:nvPr/>
        </p:nvSpPr>
        <p:spPr>
          <a:xfrm>
            <a:off x="571500" y="4713982"/>
            <a:ext cx="154468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5"/>
          <p:cNvSpPr/>
          <p:nvPr/>
        </p:nvSpPr>
        <p:spPr>
          <a:xfrm>
            <a:off x="2116187" y="4713982"/>
            <a:ext cx="247411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5"/>
          <p:cNvSpPr/>
          <p:nvPr/>
        </p:nvSpPr>
        <p:spPr>
          <a:xfrm>
            <a:off x="4590305" y="4713982"/>
            <a:ext cx="45687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5"/>
          <p:cNvSpPr/>
          <p:nvPr/>
        </p:nvSpPr>
        <p:spPr>
          <a:xfrm>
            <a:off x="9159031" y="4713982"/>
            <a:ext cx="24614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5"/>
          <p:cNvSpPr/>
          <p:nvPr/>
        </p:nvSpPr>
        <p:spPr>
          <a:xfrm>
            <a:off x="571500" y="5352157"/>
            <a:ext cx="154468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5"/>
          <p:cNvSpPr/>
          <p:nvPr/>
        </p:nvSpPr>
        <p:spPr>
          <a:xfrm>
            <a:off x="2116187" y="5352157"/>
            <a:ext cx="247411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5"/>
          <p:cNvSpPr/>
          <p:nvPr/>
        </p:nvSpPr>
        <p:spPr>
          <a:xfrm>
            <a:off x="4590305" y="5352157"/>
            <a:ext cx="45687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/>
          <p:nvPr/>
        </p:nvSpPr>
        <p:spPr>
          <a:xfrm>
            <a:off x="9159031" y="5352157"/>
            <a:ext cx="24614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5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Rotas</a:t>
            </a: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da API </a:t>
            </a:r>
            <a:r>
              <a:rPr lang="en-US" sz="36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Categoria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17" name="Google Shape;317;p26"/>
          <p:cNvGraphicFramePr/>
          <p:nvPr>
            <p:extLst>
              <p:ext uri="{D42A27DB-BD31-4B8C-83A1-F6EECF244321}">
                <p14:modId xmlns:p14="http://schemas.microsoft.com/office/powerpoint/2010/main" val="4199936949"/>
              </p:ext>
            </p:extLst>
          </p:nvPr>
        </p:nvGraphicFramePr>
        <p:xfrm>
          <a:off x="571500" y="2175569"/>
          <a:ext cx="11049000" cy="3819475"/>
        </p:xfrm>
        <a:graphic>
          <a:graphicData uri="http://schemas.openxmlformats.org/drawingml/2006/table">
            <a:tbl>
              <a:tblPr firstRow="1" bandRow="1">
                <a:noFill/>
                <a:tableStyleId>{95270845-8E29-47A4-926C-3CECF97C9C3A}</a:tableStyleId>
              </a:tblPr>
              <a:tblGrid>
                <a:gridCol w="1635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22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6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Método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Endpoint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Descrição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Requer</a:t>
                      </a:r>
                      <a:r>
                        <a:rPr lang="en-US" sz="1500" b="1" i="0" u="none" strike="noStrike" cap="none" dirty="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Perfil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Lista todos os produtos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COMUM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ou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ADMIN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/produtos/{id}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Retorna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um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específico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COMUM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ou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ADMIN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POST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/produtos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Cadastra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um novo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PUT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/produtos/{id}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Atualiza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um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existente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DELETE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/produtos/{id}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Exclui</a:t>
                      </a: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um </a:t>
                      </a:r>
                      <a:r>
                        <a:rPr lang="en-US" sz="1500" b="0" i="0" u="none" strike="noStrike" cap="none" dirty="0" err="1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produto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8" name="Google Shape;318;p26"/>
          <p:cNvSpPr/>
          <p:nvPr/>
        </p:nvSpPr>
        <p:spPr>
          <a:xfrm>
            <a:off x="571500" y="2799457"/>
            <a:ext cx="163576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2207269" y="2799457"/>
            <a:ext cx="23843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6"/>
          <p:cNvSpPr/>
          <p:nvPr/>
        </p:nvSpPr>
        <p:spPr>
          <a:xfrm>
            <a:off x="4591645" y="2799457"/>
            <a:ext cx="442227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6"/>
          <p:cNvSpPr/>
          <p:nvPr/>
        </p:nvSpPr>
        <p:spPr>
          <a:xfrm>
            <a:off x="9013924" y="2799457"/>
            <a:ext cx="26065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6"/>
          <p:cNvSpPr/>
          <p:nvPr/>
        </p:nvSpPr>
        <p:spPr>
          <a:xfrm>
            <a:off x="571500" y="3437632"/>
            <a:ext cx="163576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2207269" y="3437632"/>
            <a:ext cx="23843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6"/>
          <p:cNvSpPr/>
          <p:nvPr/>
        </p:nvSpPr>
        <p:spPr>
          <a:xfrm>
            <a:off x="4591645" y="3437632"/>
            <a:ext cx="442227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6"/>
          <p:cNvSpPr/>
          <p:nvPr/>
        </p:nvSpPr>
        <p:spPr>
          <a:xfrm>
            <a:off x="9013924" y="3437632"/>
            <a:ext cx="26065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6"/>
          <p:cNvSpPr/>
          <p:nvPr/>
        </p:nvSpPr>
        <p:spPr>
          <a:xfrm>
            <a:off x="571500" y="4075807"/>
            <a:ext cx="163576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6"/>
          <p:cNvSpPr/>
          <p:nvPr/>
        </p:nvSpPr>
        <p:spPr>
          <a:xfrm>
            <a:off x="2207269" y="4075807"/>
            <a:ext cx="23843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6"/>
          <p:cNvSpPr/>
          <p:nvPr/>
        </p:nvSpPr>
        <p:spPr>
          <a:xfrm>
            <a:off x="4591645" y="4075807"/>
            <a:ext cx="442227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6"/>
          <p:cNvSpPr/>
          <p:nvPr/>
        </p:nvSpPr>
        <p:spPr>
          <a:xfrm>
            <a:off x="9013924" y="4075807"/>
            <a:ext cx="26065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6"/>
          <p:cNvSpPr/>
          <p:nvPr/>
        </p:nvSpPr>
        <p:spPr>
          <a:xfrm>
            <a:off x="571500" y="4713982"/>
            <a:ext cx="163576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6"/>
          <p:cNvSpPr/>
          <p:nvPr/>
        </p:nvSpPr>
        <p:spPr>
          <a:xfrm>
            <a:off x="2207269" y="4713982"/>
            <a:ext cx="23843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6"/>
          <p:cNvSpPr/>
          <p:nvPr/>
        </p:nvSpPr>
        <p:spPr>
          <a:xfrm>
            <a:off x="4591645" y="4713982"/>
            <a:ext cx="442227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6"/>
          <p:cNvSpPr/>
          <p:nvPr/>
        </p:nvSpPr>
        <p:spPr>
          <a:xfrm>
            <a:off x="9013924" y="4713982"/>
            <a:ext cx="26065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6"/>
          <p:cNvSpPr/>
          <p:nvPr/>
        </p:nvSpPr>
        <p:spPr>
          <a:xfrm>
            <a:off x="571500" y="5352157"/>
            <a:ext cx="163576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6"/>
          <p:cNvSpPr/>
          <p:nvPr/>
        </p:nvSpPr>
        <p:spPr>
          <a:xfrm>
            <a:off x="2207269" y="5352157"/>
            <a:ext cx="23843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6"/>
          <p:cNvSpPr/>
          <p:nvPr/>
        </p:nvSpPr>
        <p:spPr>
          <a:xfrm>
            <a:off x="4591645" y="5352157"/>
            <a:ext cx="442227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6"/>
          <p:cNvSpPr/>
          <p:nvPr/>
        </p:nvSpPr>
        <p:spPr>
          <a:xfrm>
            <a:off x="9013924" y="5352157"/>
            <a:ext cx="26065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6"/>
          <p:cNvSpPr txBox="1"/>
          <p:nvPr/>
        </p:nvSpPr>
        <p:spPr>
          <a:xfrm>
            <a:off x="571500" y="950862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Rotas</a:t>
            </a: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da API </a:t>
            </a:r>
            <a:r>
              <a:rPr lang="en-US" sz="3600" b="1" i="0" u="none" strike="noStrike" cap="none" dirty="0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Produto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27"/>
          <p:cNvSpPr/>
          <p:nvPr/>
        </p:nvSpPr>
        <p:spPr>
          <a:xfrm>
            <a:off x="5619750" y="2233166"/>
            <a:ext cx="952500" cy="3810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7"/>
          <p:cNvSpPr txBox="1"/>
          <p:nvPr/>
        </p:nvSpPr>
        <p:spPr>
          <a:xfrm>
            <a:off x="3975735" y="3110358"/>
            <a:ext cx="4240530" cy="809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Testes da API</a:t>
            </a:r>
            <a:endParaRPr/>
          </a:p>
        </p:txBody>
      </p:sp>
      <p:sp>
        <p:nvSpPr>
          <p:cNvPr id="346" name="Google Shape;346;p27"/>
          <p:cNvSpPr txBox="1"/>
          <p:nvPr/>
        </p:nvSpPr>
        <p:spPr>
          <a:xfrm>
            <a:off x="3462337" y="4325257"/>
            <a:ext cx="57397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Demonstração dos Endpoints no Insomnia / Isonomia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32"/>
          <p:cNvSpPr txBox="1"/>
          <p:nvPr/>
        </p:nvSpPr>
        <p:spPr>
          <a:xfrm>
            <a:off x="295275" y="2887860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Perguntas?</a:t>
            </a:r>
            <a:endParaRPr/>
          </a:p>
        </p:txBody>
      </p:sp>
      <p:sp>
        <p:nvSpPr>
          <p:cNvPr id="393" name="Google Shape;393;p32"/>
          <p:cNvSpPr txBox="1"/>
          <p:nvPr/>
        </p:nvSpPr>
        <p:spPr>
          <a:xfrm>
            <a:off x="571500" y="4030860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Obrigado.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756</Words>
  <Application>Microsoft Office PowerPoint</Application>
  <PresentationFormat>Widescreen</PresentationFormat>
  <Paragraphs>187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2" baseType="lpstr">
      <vt:lpstr>Arial</vt:lpstr>
      <vt:lpstr>Urbanist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João Marcos</dc:creator>
  <cp:lastModifiedBy>João Marcos</cp:lastModifiedBy>
  <cp:revision>2</cp:revision>
  <dcterms:modified xsi:type="dcterms:W3CDTF">2025-11-12T15:55:15Z</dcterms:modified>
</cp:coreProperties>
</file>